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c387a530f44533" /><Relationship Type="http://schemas.openxmlformats.org/officeDocument/2006/relationships/extended-properties" Target="/docProps/app.xml" Id="Re8436a23edd642a2" /><Relationship Type="http://schemas.openxmlformats.org/officeDocument/2006/relationships/officeDocument" Target="/ppt/presentation.xml" Id="Rc88cad8d12a8469c" /></Relationships>
</file>

<file path=ppt/presentation.xml><?xml version="1.0" encoding="utf-8"?>
<p:presentation xmlns:p="http://schemas.openxmlformats.org/presentationml/2006/main">
  <p:sldMasterIdLst>
    <p:sldMasterId xmlns:r="http://schemas.openxmlformats.org/officeDocument/2006/relationships" id="2147483648" r:id="R20b55407e3034b0b"/>
  </p:sldMasterIdLst>
  <p:notesMasterIdLst>
    <p:notesMasterId xmlns:r="http://schemas.openxmlformats.org/officeDocument/2006/relationships" r:id="Rbf1ffbaae3d44d64"/>
  </p:notesMasterIdLst>
  <p:sldIdLst>
    <p:sldId xmlns:r="http://schemas.openxmlformats.org/officeDocument/2006/relationships" id="256" r:id="R123e1b3fdcbb4074"/>
    <p:sldId xmlns:r="http://schemas.openxmlformats.org/officeDocument/2006/relationships" id="257" r:id="R2892be84171a4944"/>
    <p:sldId xmlns:r="http://schemas.openxmlformats.org/officeDocument/2006/relationships" id="258" r:id="Ra2665de64d3843a8"/>
    <p:sldId xmlns:r="http://schemas.openxmlformats.org/officeDocument/2006/relationships" id="259" r:id="R76a7b602753447d1"/>
    <p:sldId xmlns:r="http://schemas.openxmlformats.org/officeDocument/2006/relationships" id="260" r:id="R77964ae477924310"/>
    <p:sldId xmlns:r="http://schemas.openxmlformats.org/officeDocument/2006/relationships" id="261" r:id="Rf6c2db43ab8246dd"/>
    <p:sldId xmlns:r="http://schemas.openxmlformats.org/officeDocument/2006/relationships" id="262" r:id="Raf984e5177c34740"/>
    <p:sldId xmlns:r="http://schemas.openxmlformats.org/officeDocument/2006/relationships" id="263" r:id="R18a853372ee6477b"/>
    <p:sldId xmlns:r="http://schemas.openxmlformats.org/officeDocument/2006/relationships" id="264" r:id="Rf85b919aaefd4fb5"/>
    <p:sldId xmlns:r="http://schemas.openxmlformats.org/officeDocument/2006/relationships" id="265" r:id="Rb2aeda85b7dd460d"/>
    <p:sldId xmlns:r="http://schemas.openxmlformats.org/officeDocument/2006/relationships" id="266" r:id="Rf022c2125cad4ca4"/>
    <p:sldId xmlns:r="http://schemas.openxmlformats.org/officeDocument/2006/relationships" id="267" r:id="Rbefa62ee34df4d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f49a53e5424b0b" /><Relationship Type="http://schemas.openxmlformats.org/officeDocument/2006/relationships/slideMaster" Target="/ppt/slideMasters/slideMaster1.xml" Id="R20b55407e3034b0b" /><Relationship Type="http://schemas.openxmlformats.org/officeDocument/2006/relationships/notesMaster" Target="/ppt/notesMasters/notesMaster1.xml" Id="Rbf1ffbaae3d44d64" /><Relationship Type="http://schemas.openxmlformats.org/officeDocument/2006/relationships/presProps" Target="/ppt/presProps.xml" Id="R376f987eafdd457b" /><Relationship Type="http://schemas.openxmlformats.org/officeDocument/2006/relationships/tableStyles" Target="/ppt/tableStyles.xml" Id="Rc62c9675928946d5" /><Relationship Type="http://schemas.openxmlformats.org/officeDocument/2006/relationships/slide" Target="/ppt/slides/slide1.xml" Id="R123e1b3fdcbb4074" /><Relationship Type="http://schemas.openxmlformats.org/officeDocument/2006/relationships/slide" Target="/ppt/slides/slide2.xml" Id="R2892be84171a4944" /><Relationship Type="http://schemas.openxmlformats.org/officeDocument/2006/relationships/slide" Target="/ppt/slides/slide3.xml" Id="Ra2665de64d3843a8" /><Relationship Type="http://schemas.openxmlformats.org/officeDocument/2006/relationships/slide" Target="/ppt/slides/slide4.xml" Id="R76a7b602753447d1" /><Relationship Type="http://schemas.openxmlformats.org/officeDocument/2006/relationships/slide" Target="/ppt/slides/slide5.xml" Id="R77964ae477924310" /><Relationship Type="http://schemas.openxmlformats.org/officeDocument/2006/relationships/slide" Target="/ppt/slides/slide6.xml" Id="Rf6c2db43ab8246dd" /><Relationship Type="http://schemas.openxmlformats.org/officeDocument/2006/relationships/slide" Target="/ppt/slides/slide7.xml" Id="Raf984e5177c34740" /><Relationship Type="http://schemas.openxmlformats.org/officeDocument/2006/relationships/slide" Target="/ppt/slides/slide8.xml" Id="R18a853372ee6477b" /><Relationship Type="http://schemas.openxmlformats.org/officeDocument/2006/relationships/slide" Target="/ppt/slides/slide9.xml" Id="Rf85b919aaefd4fb5" /><Relationship Type="http://schemas.openxmlformats.org/officeDocument/2006/relationships/slide" Target="/ppt/slides/slide10.xml" Id="Rb2aeda85b7dd460d" /><Relationship Type="http://schemas.openxmlformats.org/officeDocument/2006/relationships/slide" Target="/ppt/slides/slide11.xml" Id="Rf022c2125cad4ca4" /><Relationship Type="http://schemas.openxmlformats.org/officeDocument/2006/relationships/slide" Target="/ppt/slides/slide12.xml" Id="Rbefa62ee34df4d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15e0ba3dcc48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b3f1a4f1c7478b" /><Relationship Type="http://schemas.openxmlformats.org/officeDocument/2006/relationships/notesMaster" Target="/ppt/notesMasters/notesMaster1.xml" Id="R4467d2cef6ae43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0e0a5a126f4502" /><Relationship Type="http://schemas.openxmlformats.org/officeDocument/2006/relationships/notesMaster" Target="/ppt/notesMasters/notesMaster1.xml" Id="Rdb84a245363544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66e0d831dc4424" /><Relationship Type="http://schemas.openxmlformats.org/officeDocument/2006/relationships/notesMaster" Target="/ppt/notesMasters/notesMaster1.xml" Id="R0c082a991cdb4b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2d6fdd4c2e44ec" /><Relationship Type="http://schemas.openxmlformats.org/officeDocument/2006/relationships/notesMaster" Target="/ppt/notesMasters/notesMaster1.xml" Id="R48329f4a1e0548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111d0166d34b66" /><Relationship Type="http://schemas.openxmlformats.org/officeDocument/2006/relationships/notesMaster" Target="/ppt/notesMasters/notesMaster1.xml" Id="R9733666de47640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3d7faf9736417a" /><Relationship Type="http://schemas.openxmlformats.org/officeDocument/2006/relationships/notesMaster" Target="/ppt/notesMasters/notesMaster1.xml" Id="R8d2b1027ba3c46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541cfc35fa4b78" /><Relationship Type="http://schemas.openxmlformats.org/officeDocument/2006/relationships/notesMaster" Target="/ppt/notesMasters/notesMaster1.xml" Id="R04c4a18a8d564e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e2b4bbde7f48cf" /><Relationship Type="http://schemas.openxmlformats.org/officeDocument/2006/relationships/notesMaster" Target="/ppt/notesMasters/notesMaster1.xml" Id="Rec6ba974934f44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749a0b977049f4" /><Relationship Type="http://schemas.openxmlformats.org/officeDocument/2006/relationships/notesMaster" Target="/ppt/notesMasters/notesMaster1.xml" Id="R4bce0dd5cb4e4d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a797f6dd924d04" /><Relationship Type="http://schemas.openxmlformats.org/officeDocument/2006/relationships/notesMaster" Target="/ppt/notesMasters/notesMaster1.xml" Id="Rd77548defb024e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3bfbcf850e4faf" /><Relationship Type="http://schemas.openxmlformats.org/officeDocument/2006/relationships/notesMaster" Target="/ppt/notesMasters/notesMaster1.xml" Id="R13e09acb4a924f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c23732eae44c21" /><Relationship Type="http://schemas.openxmlformats.org/officeDocument/2006/relationships/notesMaster" Target="/ppt/notesMasters/notesMaster1.xml" Id="R6f478c3827734e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Suggested time 20 seconds</a:t>
            </a:r>
          </a:p>
          <a:p xmlns:a="http://schemas.openxmlformats.org/drawingml/2006/main">
            <a:r>
              <a:t/>
            </a:r>
          </a:p>
          <a:p xmlns:a="http://schemas.openxmlformats.org/drawingml/2006/main">
            <a:r>
              <a:t>Good day. We are the Coinnect team from UM Tagum. We are developing a self-service kiosk for cash denomination conversion and wallet access. We have a partial physical prototype, and we are applying to UMasenso Hub to validate its campus use case and prepare a supervised pilot.</a:t>
            </a:r>
          </a:p>
          <a:p xmlns:a="http://schemas.openxmlformats.org/drawingml/2006/main">
            <a:r>
              <a:t/>
            </a:r>
          </a:p>
          <a:p xmlns:a="http://schemas.openxmlformats.org/drawingml/2006/main">
            <a:r>
              <a:t>Evidence and context</a:t>
            </a:r>
          </a:p>
          <a:p xmlns:a="http://schemas.openxmlformats.org/drawingml/2006/main">
            <a:r>
              <a:t>Team details and prototype stage: supplied by the team. Product scope: PROJECT.md and README.md. Logo: frontend/public/assets/Coinnect 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Suggested time 25 seconds</a:t>
            </a:r>
          </a:p>
          <a:p xmlns:a="http://schemas.openxmlformats.org/drawingml/2006/main">
            <a:r>
              <a:t/>
            </a:r>
          </a:p>
          <a:p xmlns:a="http://schemas.openxmlformats.org/drawingml/2006/main">
            <a:r>
              <a:t>Our starting problem is a mismatch between the money someone has and the payment they need to make. A student may need coins, or may need wallet funds while holding cash. We have not yet measured how often this happens on campus. Our first step is to investigate recent real experiences and the alternatives people already use.</a:t>
            </a:r>
          </a:p>
          <a:p xmlns:a="http://schemas.openxmlformats.org/drawingml/2006/main">
            <a:r>
              <a:t/>
            </a:r>
          </a:p>
          <a:p xmlns:a="http://schemas.openxmlformats.org/drawingml/2006/main">
            <a:r>
              <a:t>Evidence and context</a:t>
            </a:r>
          </a:p>
          <a:p xmlns:a="http://schemas.openxmlformats.org/drawingml/2006/main">
            <a:r>
              <a:t>Problem framing is a proposed hypothesis, not a completed survey or market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Suggested time 25 seconds</a:t>
            </a:r>
          </a:p>
          <a:p xmlns:a="http://schemas.openxmlformats.org/drawingml/2006/main">
            <a:r>
              <a:t/>
            </a:r>
          </a:p>
          <a:p xmlns:a="http://schemas.openxmlformats.org/drawingml/2006/main">
            <a:r>
              <a:t>We propose starting with UM Tagum students and staff. Early adopters would be people who experience these needs repeatedly and find the fee acceptable. Campus administration would be the proposed host, while nearby merchants could help us understand demand. We are not claiming that the university or merchants have agreed to participate.</a:t>
            </a:r>
          </a:p>
          <a:p xmlns:a="http://schemas.openxmlformats.org/drawingml/2006/main">
            <a:r>
              <a:t/>
            </a:r>
          </a:p>
          <a:p xmlns:a="http://schemas.openxmlformats.org/drawingml/2006/main">
            <a:r>
              <a:t>Evidence and context</a:t>
            </a:r>
          </a:p>
          <a:p xmlns:a="http://schemas.openxmlformats.org/drawingml/2006/main">
            <a:r>
              <a:t>Target market and campus pilot: agreed application assumptions. No measured segment size or partner commitment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Suggested time 25 seconds</a:t>
            </a:r>
          </a:p>
          <a:p xmlns:a="http://schemas.openxmlformats.org/drawingml/2006/main">
            <a:r>
              <a:t/>
            </a:r>
          </a:p>
          <a:p xmlns:a="http://schemas.openxmlformats.org/drawingml/2006/main">
            <a:r>
              <a:t>Coinnect combines these tasks in a touchscreen kiosk. The first pilot priority is Philippine peso conversion between bills and coins, subject to inventory. This is designed to operate locally without internet. Wallet services would follow only after integration and operating readiness. Foreign exchange remains a later capability, outside the first campus pilot.</a:t>
            </a:r>
          </a:p>
          <a:p xmlns:a="http://schemas.openxmlformats.org/drawingml/2006/main">
            <a:r>
              <a:t/>
            </a:r>
          </a:p>
          <a:p xmlns:a="http://schemas.openxmlformats.org/drawingml/2006/main">
            <a:r>
              <a:t>Evidence and context</a:t>
            </a:r>
          </a:p>
          <a:p xmlns:a="http://schemas.openxmlformats.org/drawingml/2006/main">
            <a:r>
              <a:t>Product design: PROJECT.md and reference/01_system_overview.md. Implemented flows: frontend/src/pages/money-converter and frontend/src/pages/ewallet. Pilot sequencing is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Suggested time 25 seconds</a:t>
            </a:r>
          </a:p>
          <a:p xmlns:a="http://schemas.openxmlformats.org/drawingml/2006/main">
            <a:r>
              <a:t/>
            </a:r>
          </a:p>
          <a:p xmlns:a="http://schemas.openxmlformats.org/drawingml/2006/main">
            <a:r>
              <a:t>The intended flow starts with a clear choice and fee review. The kiosk then counts accepted cash or verifies payment before completing the service. The user receives a transaction reference. If cash has been accepted but the full service cannot be delivered, the design records what remains owed and provides a claim reference for operator follow-up.</a:t>
            </a:r>
          </a:p>
          <a:p xmlns:a="http://schemas.openxmlformats.org/drawingml/2006/main">
            <a:r>
              <a:t/>
            </a:r>
          </a:p>
          <a:p xmlns:a="http://schemas.openxmlformats.org/drawingml/2006/main">
            <a:r>
              <a:t>Evidence and context</a:t>
            </a:r>
          </a:p>
          <a:p xmlns:a="http://schemas.openxmlformats.org/drawingml/2006/main">
            <a:r>
              <a:t>Repository basis: frontend/src/pages/money-converter; backend/app/services/transaction_orchestrator.py; backend/app/services/claim_service.py; backend/app/services/ewallet_orchestrator.py.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Suggested time 30 seconds</a:t>
            </a:r>
          </a:p>
          <a:p xmlns:a="http://schemas.openxmlformats.org/drawingml/2006/main">
            <a:r>
              <a:t/>
            </a:r>
          </a:p>
          <a:p xmlns:a="http://schemas.openxmlformats.org/drawingml/2006/main">
            <a:r>
              <a:t>We have software and firmware in the repository, including transaction, inventory, and claim handling. The team confirms a partial physical prototype. Our next technical task is repeatable operation on the assembled kiosk, including jams and interrupted transactions. Because the design has no UPS, hard power-loss recovery matters. We will measure camera performance before making any accuracy or counterfeit-detection claim.</a:t>
            </a:r>
          </a:p>
          <a:p xmlns:a="http://schemas.openxmlformats.org/drawingml/2006/main">
            <a:r>
              <a:t/>
            </a:r>
          </a:p>
          <a:p xmlns:a="http://schemas.openxmlformats.org/drawingml/2006/main">
            <a:r>
              <a:t>Evidence and context</a:t>
            </a:r>
          </a:p>
          <a:p xmlns:a="http://schemas.openxmlformats.org/drawingml/2006/main">
            <a:r>
              <a:t>Source: README.md; backend/app/services; firmware/mega_bill and firmware/mega_coin_security; UAT.md; AGENTS.md power-loss design. PROJECT.md contains an outdated implementation-status summary, so current source presence and team-confirmed prototype status govern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Suggested time 25 seconds</a:t>
            </a:r>
          </a:p>
          <a:p xmlns:a="http://schemas.openxmlformats.org/drawingml/2006/main">
            <a:r>
              <a:t/>
            </a:r>
          </a:p>
          <a:p xmlns:a="http://schemas.openxmlformats.org/drawingml/2006/main">
            <a:r>
              <a:t>Users already have alternatives. Some ask a cashier or an acquaintance for change, while others use available wallet-service outlets. We will compare local availability, charges, and convenience. Coinnect’s proposed difference is its campus location and combined services. Those advantages must be demonstrated. We do not claim exclusive technology or an established competitive moat.</a:t>
            </a:r>
          </a:p>
          <a:p xmlns:a="http://schemas.openxmlformats.org/drawingml/2006/main">
            <a:r>
              <a:t/>
            </a:r>
          </a:p>
          <a:p xmlns:a="http://schemas.openxmlformats.org/drawingml/2006/main">
            <a:r>
              <a:t>Evidence and context</a:t>
            </a:r>
          </a:p>
          <a:p xmlns:a="http://schemas.openxmlformats.org/drawingml/2006/main">
            <a:r>
              <a:t>Qualitative alternatives and differentiation hypotheses for customer discovery. No named competitor, price comparison, or market survey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Suggested time 30 seconds</a:t>
            </a:r>
          </a:p>
          <a:p xmlns:a="http://schemas.openxmlformats.org/drawingml/2006/main">
            <a:r>
              <a:t/>
            </a:r>
          </a:p>
          <a:p xmlns:a="http://schemas.openxmlformats.org/drawingml/2006/main">
            <a:r>
              <a:t>Our proposed revenue comes from disclosed fees on completed transactions. Customer cash is transaction principal, not revenue. Provider charges and direct costs reduce contribution, and recurring operating expenses determine whether the kiosk can sustain itself. We also need cash float and any settlement funding. We will measure these inputs and willingness to pay before claiming a break-even point.</a:t>
            </a:r>
          </a:p>
          <a:p xmlns:a="http://schemas.openxmlformats.org/drawingml/2006/main">
            <a:r>
              <a:t/>
            </a:r>
          </a:p>
          <a:p xmlns:a="http://schemas.openxmlformats.org/drawingml/2006/main">
            <a:r>
              <a:t>Evidence and context</a:t>
            </a:r>
          </a:p>
          <a:p xmlns:a="http://schemas.openxmlformats.org/drawingml/2006/main">
            <a:r>
              <a:t>Business model: agreed proposal. Formulas are definitions, not forecasts. No fee level, volume, profitability, or finished kiosk cost has been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Suggested time 25 seconds</a:t>
            </a:r>
          </a:p>
          <a:p xmlns:a="http://schemas.openxmlformats.org/drawingml/2006/main">
            <a:r>
              <a:t/>
            </a:r>
          </a:p>
          <a:p xmlns:a="http://schemas.openxmlformats.org/drawingml/2006/main">
            <a:r>
              <a:t>We propose one supervised campus kiosk, subject to approval. We would first validate demand, then demonstrate cash conversion and failure recovery. Before use, the host and team would agree operating hours, cash custody, and support responsibilities. The trial would record actual use and cost. Wallet services would require additional readiness rather than being assumed available from day one.</a:t>
            </a:r>
          </a:p>
          <a:p xmlns:a="http://schemas.openxmlformats.org/drawingml/2006/main">
            <a:r>
              <a:t/>
            </a:r>
          </a:p>
          <a:p xmlns:a="http://schemas.openxmlformats.org/drawingml/2006/main">
            <a:r>
              <a:t>Evidence and context</a:t>
            </a:r>
          </a:p>
          <a:p xmlns:a="http://schemas.openxmlformats.org/drawingml/2006/main">
            <a:r>
              <a:t>Pilot design: application proposal. Indoor climate-controlled requirement: PROJECT.md. No approved location, schedule, or deployment commitment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Suggested time 25 seconds</a:t>
            </a:r>
          </a:p>
          <a:p xmlns:a="http://schemas.openxmlformats.org/drawingml/2006/main">
            <a:r>
              <a:t/>
            </a:r>
          </a:p>
          <a:p xmlns:a="http://schemas.openxmlformats.org/drawingml/2006/main">
            <a:r>
              <a:t>We want the kiosk to reduce avoidable effort in obtaining suitable cash or accessing wallet services. We will ask users whether it saves time or cost compared with their previous alternative. We will also track completion, support requests, and unresolved claims. An accessible service must be understandable and affordable, so user feedback should determine what we change.</a:t>
            </a:r>
          </a:p>
          <a:p xmlns:a="http://schemas.openxmlformats.org/drawingml/2006/main">
            <a:r>
              <a:t/>
            </a:r>
          </a:p>
          <a:p xmlns:a="http://schemas.openxmlformats.org/drawingml/2006/main">
            <a:r>
              <a:t>Evidence and context</a:t>
            </a:r>
          </a:p>
          <a:p xmlns:a="http://schemas.openxmlformats.org/drawingml/2006/main">
            <a:r>
              <a:t>Intended outcomes and proposed measures. No achieved savings, inclusion result, or beneficiary count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Suggested time 25 seconds</a:t>
            </a:r>
          </a:p>
          <a:p xmlns:a="http://schemas.openxmlformats.org/drawingml/2006/main">
            <a:r>
              <a:t/>
            </a:r>
          </a:p>
          <a:p xmlns:a="http://schemas.openxmlformats.org/drawingml/2006/main">
            <a:r>
              <a:t>Our milestones are tied to evidence. First, document user needs and define a narrow service scope. Next, record physical transaction and interruption tests. Then build an operating-cost model and a pilot plan with clear responsibilities. Finally, use observed results to decide whether to refine the prototype, continue testing, or reconsider the business assumptions.</a:t>
            </a:r>
          </a:p>
          <a:p xmlns:a="http://schemas.openxmlformats.org/drawingml/2006/main">
            <a:r>
              <a:t/>
            </a:r>
          </a:p>
          <a:p xmlns:a="http://schemas.openxmlformats.org/drawingml/2006/main">
            <a:r>
              <a:t>Evidence and context</a:t>
            </a:r>
          </a:p>
          <a:p xmlns:a="http://schemas.openxmlformats.org/drawingml/2006/main">
            <a:r>
              <a:t>Milestones are proposed pre-incubation outputs, not achieved results or a committed delivery schedule. Technical test scope informed by UAT.md.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Suggested time 20 seconds</a:t>
            </a:r>
          </a:p>
          <a:p xmlns:a="http://schemas.openxmlformats.org/drawingml/2006/main">
            <a:r>
              <a:t/>
            </a:r>
          </a:p>
          <a:p xmlns:a="http://schemas.openxmlformats.org/drawingml/2006/main">
            <a:r>
              <a:t>Our team consists of Vince Ronald Maravillas, Stunley Opeña, and Raziel Renz Salamat, all Computer Engineering students at UM Tagum. Vince leads the team. We seek customer and pricing mentorship, technical feedback, and help preparing a campus pilot. Our aim is to turn this partial prototype into evidence for a responsible deployment decision. Thank you.</a:t>
            </a:r>
          </a:p>
          <a:p xmlns:a="http://schemas.openxmlformats.org/drawingml/2006/main">
            <a:r>
              <a:t/>
            </a:r>
          </a:p>
          <a:p xmlns:a="http://schemas.openxmlformats.org/drawingml/2006/main">
            <a:r>
              <a:t>Evidence and context</a:t>
            </a:r>
          </a:p>
          <a:p xmlns:a="http://schemas.openxmlformats.org/drawingml/2006/main">
            <a:r>
              <a:t>Names, roles, course, department, branch, email, and eligibility were supplied or confirmed by the team. Support request is proposed; no organizer commitment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aa5522ebcb46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9bddde3a704543" /><Relationship Type="http://schemas.openxmlformats.org/officeDocument/2006/relationships/slideLayout" Target="/ppt/slideLayouts/slideLayout1.xml" Id="R38b52eccb7de40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b52eccb7de40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33d07a61ba468a" /><Relationship Type="http://schemas.openxmlformats.org/officeDocument/2006/relationships/image" Target="/ppt/media/image.png" Id="R2293b4d01d33477e" /><Relationship Type="http://schemas.openxmlformats.org/officeDocument/2006/relationships/notesSlide" Target="/ppt/notesSlides/notesSlide1.xml" Id="Rc4794384b7f745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ebfc1b9bb446f8" /><Relationship Type="http://schemas.openxmlformats.org/officeDocument/2006/relationships/notesSlide" Target="/ppt/notesSlides/notesSlide2.xml" Id="R650db02a16a34d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dc6382e64e45d2" /><Relationship Type="http://schemas.openxmlformats.org/officeDocument/2006/relationships/notesSlide" Target="/ppt/notesSlides/notesSlide3.xml" Id="R070a78ee3d8846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e2f42ab3b14f0c" /><Relationship Type="http://schemas.openxmlformats.org/officeDocument/2006/relationships/notesSlide" Target="/ppt/notesSlides/notesSlide4.xml" Id="Ra1e45717613d45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55db88474c4aed" /><Relationship Type="http://schemas.openxmlformats.org/officeDocument/2006/relationships/notesSlide" Target="/ppt/notesSlides/notesSlide5.xml" Id="R3b72d606c86e45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082ef004634997" /><Relationship Type="http://schemas.openxmlformats.org/officeDocument/2006/relationships/notesSlide" Target="/ppt/notesSlides/notesSlide6.xml" Id="Rd1d5de62b2a445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ef2f12fee74cc1" /><Relationship Type="http://schemas.openxmlformats.org/officeDocument/2006/relationships/notesSlide" Target="/ppt/notesSlides/notesSlide7.xml" Id="R3bc1b0c7fea64b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27b9abb8504006" /><Relationship Type="http://schemas.openxmlformats.org/officeDocument/2006/relationships/notesSlide" Target="/ppt/notesSlides/notesSlide8.xml" Id="R93cc0a7cf8714d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37fbaf22c148c7" /><Relationship Type="http://schemas.openxmlformats.org/officeDocument/2006/relationships/notesSlide" Target="/ppt/notesSlides/notesSlide9.xml" Id="Rc096484f14f64f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541d6937ed4889" /><Relationship Type="http://schemas.openxmlformats.org/officeDocument/2006/relationships/notesSlide" Target="/ppt/notesSlides/notesSlide10.xml" Id="R9d0b1e9d877f4b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93500288d234b51" /><Relationship Type="http://schemas.openxmlformats.org/officeDocument/2006/relationships/notesSlide" Target="/ppt/notesSlides/notesSlide11.xml" Id="Re3fc81162b9d46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e08e921e3a74b98" /><Relationship Type="http://schemas.openxmlformats.org/officeDocument/2006/relationships/notesSlide" Target="/ppt/notesSlides/notesSlide12.xml" Id="Rf79da215dcbb47f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innect">
            <a:extLst xmlns:a="http://schemas.openxmlformats.org/drawingml/2006/main">
              <a:ext uri="{FF2B5EF4-FFF2-40B4-BE49-F238E27FC236}">
                <a16:creationId xmlns:a16="http://schemas.microsoft.com/office/drawing/2014/main" id="{CFA1DC21-F127-424B-8DDB-CB939BA84156}"/>
              </a:ext>
            </a:extLst>
          </p:cNvPr>
          <p:cNvSpPr>
            <a:spLocks xmlns:a="http://schemas.openxmlformats.org/drawingml/2006/main" noGrp="1"/>
          </p:cNvSpPr>
          <p:nvPr/>
        </p:nvSpPr>
        <p:spPr>
          <a:xfrm xmlns:a="http://schemas.openxmlformats.org/drawingml/2006/main">
            <a:off x="609600" y="1428750"/>
            <a:ext cx="7381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600" b="1">
                <a:solidFill>
                  <a:srgbClr val="20252B"/>
                </a:solidFill>
                <a:latin typeface="Arial"/>
                <a:ea typeface="Arial"/>
                <a:cs typeface="Arial"/>
              </a:defRPr>
            </a:pPr>
            <a:r>
              <a:rPr sz="6600" b="1">
                <a:solidFill>
                  <a:srgbClr val="20252B"/>
                </a:solidFill>
                <a:latin typeface="Arial"/>
                <a:ea typeface="Arial"/>
                <a:cs typeface="Arial"/>
              </a:rPr>
              <a:t>Coinnect</a:t>
            </a:r>
          </a:p>
        </p:txBody>
      </p:sp>
      <p:sp>
        <p:nvSpPr>
          <p:cNvPr id="2" name="Self-service cash conversion&#10;and wallet access">
            <a:extLst xmlns:a="http://schemas.openxmlformats.org/drawingml/2006/main">
              <a:ext uri="{FF2B5EF4-FFF2-40B4-BE49-F238E27FC236}">
                <a16:creationId xmlns:a16="http://schemas.microsoft.com/office/drawing/2014/main" id="{596DDCEE-313D-4108-AC75-9CEDE98DDA78}"/>
              </a:ext>
            </a:extLst>
          </p:cNvPr>
          <p:cNvSpPr>
            <a:spLocks xmlns:a="http://schemas.openxmlformats.org/drawingml/2006/main" noGrp="1"/>
          </p:cNvSpPr>
          <p:nvPr/>
        </p:nvSpPr>
        <p:spPr>
          <a:xfrm xmlns:a="http://schemas.openxmlformats.org/drawingml/2006/main">
            <a:off x="666750" y="2705100"/>
            <a:ext cx="714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20252B"/>
                </a:solidFill>
                <a:latin typeface="Arial"/>
                <a:ea typeface="Arial"/>
                <a:cs typeface="Arial"/>
              </a:defRPr>
            </a:pPr>
            <a:r>
              <a:rPr sz="2850" b="0">
                <a:solidFill>
                  <a:srgbClr val="20252B"/>
                </a:solidFill>
                <a:latin typeface="Arial"/>
                <a:ea typeface="Arial"/>
                <a:cs typeface="Arial"/>
              </a:rPr>
              <a:t>Self-service cash conversion</a:t>
            </a:r>
          </a:p>
          <a:p xmlns:a="http://schemas.openxmlformats.org/drawingml/2006/main">
            <a:pPr>
              <a:defRPr sz="2850" b="0">
                <a:solidFill>
                  <a:srgbClr val="20252B"/>
                </a:solidFill>
                <a:latin typeface="Arial"/>
                <a:ea typeface="Arial"/>
                <a:cs typeface="Arial"/>
              </a:defRPr>
            </a:pPr>
            <a:r>
              <a:rPr sz="2850" b="0">
                <a:solidFill>
                  <a:srgbClr val="20252B"/>
                </a:solidFill>
                <a:latin typeface="Arial"/>
                <a:ea typeface="Arial"/>
                <a:cs typeface="Arial"/>
              </a:rPr>
              <a:t>and wallet access</a:t>
            </a:r>
          </a:p>
        </p:txBody>
      </p:sp>
      <p:sp>
        <p:nvSpPr>
          <p:cNvPr id="3" name="UMasenso Hub Cohort 5&#10;SmartTech • UM Tagum">
            <a:extLst xmlns:a="http://schemas.openxmlformats.org/drawingml/2006/main">
              <a:ext uri="{FF2B5EF4-FFF2-40B4-BE49-F238E27FC236}">
                <a16:creationId xmlns:a16="http://schemas.microsoft.com/office/drawing/2014/main" id="{C663CBAF-103C-44C7-8E6A-7F2840063413}"/>
              </a:ext>
            </a:extLst>
          </p:cNvPr>
          <p:cNvSpPr>
            <a:spLocks xmlns:a="http://schemas.openxmlformats.org/drawingml/2006/main" noGrp="1"/>
          </p:cNvSpPr>
          <p:nvPr/>
        </p:nvSpPr>
        <p:spPr>
          <a:xfrm xmlns:a="http://schemas.openxmlformats.org/drawingml/2006/main">
            <a:off x="666750" y="476250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C2410C"/>
                </a:solidFill>
                <a:latin typeface="Arial"/>
                <a:ea typeface="Arial"/>
                <a:cs typeface="Arial"/>
              </a:defRPr>
            </a:pPr>
            <a:r>
              <a:rPr sz="1875" b="0">
                <a:solidFill>
                  <a:srgbClr val="C2410C"/>
                </a:solidFill>
                <a:latin typeface="Arial"/>
                <a:ea typeface="Arial"/>
                <a:cs typeface="Arial"/>
              </a:rPr>
              <a:t>UMasenso Hub Cohort 5</a:t>
            </a:r>
          </a:p>
          <a:p xmlns:a="http://schemas.openxmlformats.org/drawingml/2006/main">
            <a:pPr>
              <a:defRPr sz="1875" b="0">
                <a:solidFill>
                  <a:srgbClr val="C2410C"/>
                </a:solidFill>
                <a:latin typeface="Arial"/>
                <a:ea typeface="Arial"/>
                <a:cs typeface="Arial"/>
              </a:defRPr>
            </a:pPr>
            <a:r>
              <a:rPr sz="1875" b="0">
                <a:solidFill>
                  <a:srgbClr val="C2410C"/>
                </a:solidFill>
                <a:latin typeface="Arial"/>
                <a:ea typeface="Arial"/>
                <a:cs typeface="Arial"/>
              </a:rPr>
              <a:t>SmartTech • UM Tagum</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293b4d01d33477e"/>
          <a:stretch xmlns:a="http://schemas.openxmlformats.org/drawingml/2006/main"/>
        </p:blipFill>
        <p:spPr>
          <a:xfrm xmlns:a="http://schemas.openxmlformats.org/drawingml/2006/main">
            <a:off x="8577137" y="1524000"/>
            <a:ext cx="2705351" cy="2714625"/>
          </a:xfrm>
          <a:prstGeom xmlns:a="http://schemas.openxmlformats.org/drawingml/2006/main" prst="rect">
            <a:avLst/>
          </a:prstGeom>
        </p:spPr>
      </p:pic>
      <p:sp>
        <p:nvSpPr>
          <p:cNvPr id="5" name="Partial physical prototype">
            <a:extLst xmlns:a="http://schemas.openxmlformats.org/drawingml/2006/main">
              <a:ext uri="{FF2B5EF4-FFF2-40B4-BE49-F238E27FC236}">
                <a16:creationId xmlns:a16="http://schemas.microsoft.com/office/drawing/2014/main" id="{97AA712E-79E7-43A7-8738-8CA7EDC9C6A5}"/>
              </a:ext>
            </a:extLst>
          </p:cNvPr>
          <p:cNvSpPr>
            <a:spLocks xmlns:a="http://schemas.openxmlformats.org/drawingml/2006/main" noGrp="1"/>
          </p:cNvSpPr>
          <p:nvPr/>
        </p:nvSpPr>
        <p:spPr>
          <a:xfrm xmlns:a="http://schemas.openxmlformats.org/drawingml/2006/main">
            <a:off x="666750" y="595312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76D"/>
                </a:solidFill>
                <a:latin typeface="Arial"/>
                <a:ea typeface="Arial"/>
                <a:cs typeface="Arial"/>
              </a:defRPr>
            </a:pPr>
            <a:r>
              <a:rPr sz="1650" b="0">
                <a:solidFill>
                  <a:srgbClr val="62676D"/>
                </a:solidFill>
                <a:latin typeface="Arial"/>
                <a:ea typeface="Arial"/>
                <a:cs typeface="Arial"/>
              </a:rPr>
              <a:t>Partial physical prototype</a:t>
            </a:r>
          </a:p>
        </p:txBody>
      </p:sp>
    </p:spTree>
    <p:extLst>
      <p:ext uri="{BB962C8B-B14F-4D97-AF65-F5344CB8AC3E}">
        <p14:creationId xmlns:p14="http://schemas.microsoft.com/office/powerpoint/2010/main" val="1169556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he campus payment problem">
            <a:extLst xmlns:a="http://schemas.openxmlformats.org/drawingml/2006/main">
              <a:ext uri="{FF2B5EF4-FFF2-40B4-BE49-F238E27FC236}">
                <a16:creationId xmlns:a16="http://schemas.microsoft.com/office/drawing/2014/main" id="{626632E2-EC6C-4029-BF68-D68F100D4E70}"/>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20252B"/>
                </a:solidFill>
                <a:latin typeface="Arial"/>
                <a:ea typeface="Arial"/>
                <a:cs typeface="Arial"/>
              </a:defRPr>
            </a:pPr>
            <a:r>
              <a:rPr sz="3300" b="1">
                <a:solidFill>
                  <a:srgbClr val="20252B"/>
                </a:solidFill>
                <a:latin typeface="Arial"/>
                <a:ea typeface="Arial"/>
                <a:cs typeface="Arial"/>
              </a:rPr>
              <a:t>The campus payment problem</a:t>
            </a:r>
          </a:p>
        </p:txBody>
      </p:sp>
      <p:sp>
        <p:nvSpPr>
          <p:cNvPr id="2" name="02">
            <a:extLst xmlns:a="http://schemas.openxmlformats.org/drawingml/2006/main">
              <a:ext uri="{FF2B5EF4-FFF2-40B4-BE49-F238E27FC236}">
                <a16:creationId xmlns:a16="http://schemas.microsoft.com/office/drawing/2014/main" id="{4C504F66-2756-40EB-821B-C70DABABF3C9}"/>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2676D"/>
                </a:solidFill>
                <a:latin typeface="Arial"/>
                <a:ea typeface="Arial"/>
                <a:cs typeface="Arial"/>
              </a:defRPr>
            </a:pPr>
            <a:r>
              <a:rPr sz="1200" b="0">
                <a:solidFill>
                  <a:srgbClr val="62676D"/>
                </a:solidFill>
                <a:latin typeface="Arial"/>
                <a:ea typeface="Arial"/>
                <a:cs typeface="Arial"/>
              </a:rPr>
              <a:t>02</a:t>
            </a:r>
          </a:p>
        </p:txBody>
      </p:sp>
      <p:sp>
        <p:nvSpPr>
          <p:cNvPr id="3" name="Cash in the wrong form">
            <a:extLst xmlns:a="http://schemas.openxmlformats.org/drawingml/2006/main">
              <a:ext uri="{FF2B5EF4-FFF2-40B4-BE49-F238E27FC236}">
                <a16:creationId xmlns:a16="http://schemas.microsoft.com/office/drawing/2014/main" id="{FFCACBB7-7EE3-4C20-A193-43D4FFBD1542}"/>
              </a:ext>
            </a:extLst>
          </p:cNvPr>
          <p:cNvSpPr>
            <a:spLocks xmlns:a="http://schemas.openxmlformats.org/drawingml/2006/main" noGrp="1"/>
          </p:cNvSpPr>
          <p:nvPr/>
        </p:nvSpPr>
        <p:spPr>
          <a:xfrm xmlns:a="http://schemas.openxmlformats.org/drawingml/2006/main">
            <a:off x="609600" y="1809750"/>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C2410C"/>
                </a:solidFill>
                <a:latin typeface="Arial"/>
                <a:ea typeface="Arial"/>
                <a:cs typeface="Arial"/>
              </a:defRPr>
            </a:pPr>
            <a:r>
              <a:rPr sz="2250" b="1">
                <a:solidFill>
                  <a:srgbClr val="C2410C"/>
                </a:solidFill>
                <a:latin typeface="Arial"/>
                <a:ea typeface="Arial"/>
                <a:cs typeface="Arial"/>
              </a:rPr>
              <a:t>Cash in the wrong form</a:t>
            </a:r>
          </a:p>
        </p:txBody>
      </p:sp>
      <p:sp>
        <p:nvSpPr>
          <p:cNvPr id="4" name="A large bill may not suit a small payment.">
            <a:extLst xmlns:a="http://schemas.openxmlformats.org/drawingml/2006/main">
              <a:ext uri="{FF2B5EF4-FFF2-40B4-BE49-F238E27FC236}">
                <a16:creationId xmlns:a16="http://schemas.microsoft.com/office/drawing/2014/main" id="{011243D1-7B24-4A31-8586-26CE93FECD90}"/>
              </a:ext>
            </a:extLst>
          </p:cNvPr>
          <p:cNvSpPr>
            <a:spLocks xmlns:a="http://schemas.openxmlformats.org/drawingml/2006/main" noGrp="1"/>
          </p:cNvSpPr>
          <p:nvPr/>
        </p:nvSpPr>
        <p:spPr>
          <a:xfrm xmlns:a="http://schemas.openxmlformats.org/drawingml/2006/main">
            <a:off x="4324350" y="1809750"/>
            <a:ext cx="712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0252B"/>
                </a:solidFill>
                <a:latin typeface="Arial"/>
                <a:ea typeface="Arial"/>
                <a:cs typeface="Arial"/>
              </a:defRPr>
            </a:pPr>
            <a:r>
              <a:rPr sz="2250" b="0">
                <a:solidFill>
                  <a:srgbClr val="20252B"/>
                </a:solidFill>
                <a:latin typeface="Arial"/>
                <a:ea typeface="Arial"/>
                <a:cs typeface="Arial"/>
              </a:rPr>
              <a:t>A large bill may not suit a small payment.</a:t>
            </a:r>
          </a:p>
        </p:txBody>
      </p:sp>
      <p:sp>
        <p:nvSpPr>
          <p:cNvPr id="5" name="Cash and wallet mismatch">
            <a:extLst xmlns:a="http://schemas.openxmlformats.org/drawingml/2006/main">
              <a:ext uri="{FF2B5EF4-FFF2-40B4-BE49-F238E27FC236}">
                <a16:creationId xmlns:a16="http://schemas.microsoft.com/office/drawing/2014/main" id="{1DEC4F62-3A4A-4C5F-9128-3D7F4D0D1BD0}"/>
              </a:ext>
            </a:extLst>
          </p:cNvPr>
          <p:cNvSpPr>
            <a:spLocks xmlns:a="http://schemas.openxmlformats.org/drawingml/2006/main" noGrp="1"/>
          </p:cNvSpPr>
          <p:nvPr/>
        </p:nvSpPr>
        <p:spPr>
          <a:xfrm xmlns:a="http://schemas.openxmlformats.org/drawingml/2006/main">
            <a:off x="609600" y="3009900"/>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C2410C"/>
                </a:solidFill>
                <a:latin typeface="Arial"/>
                <a:ea typeface="Arial"/>
                <a:cs typeface="Arial"/>
              </a:defRPr>
            </a:pPr>
            <a:r>
              <a:rPr sz="2250" b="1">
                <a:solidFill>
                  <a:srgbClr val="C2410C"/>
                </a:solidFill>
                <a:latin typeface="Arial"/>
                <a:ea typeface="Arial"/>
                <a:cs typeface="Arial"/>
              </a:rPr>
              <a:t>Cash and wallet mismatch</a:t>
            </a:r>
          </a:p>
        </p:txBody>
      </p:sp>
      <p:sp>
        <p:nvSpPr>
          <p:cNvPr id="6" name="A user may hold cash when wallet funds are needed,">
            <a:extLst xmlns:a="http://schemas.openxmlformats.org/drawingml/2006/main">
              <a:ext uri="{FF2B5EF4-FFF2-40B4-BE49-F238E27FC236}">
                <a16:creationId xmlns:a16="http://schemas.microsoft.com/office/drawing/2014/main" id="{41A1E607-4314-41FF-A414-56A5F331C2D6}"/>
              </a:ext>
            </a:extLst>
          </p:cNvPr>
          <p:cNvSpPr>
            <a:spLocks xmlns:a="http://schemas.openxmlformats.org/drawingml/2006/main" noGrp="1"/>
          </p:cNvSpPr>
          <p:nvPr/>
        </p:nvSpPr>
        <p:spPr>
          <a:xfrm xmlns:a="http://schemas.openxmlformats.org/drawingml/2006/main">
            <a:off x="4324350" y="3009900"/>
            <a:ext cx="712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0252B"/>
                </a:solidFill>
                <a:latin typeface="Arial"/>
                <a:ea typeface="Arial"/>
                <a:cs typeface="Arial"/>
              </a:defRPr>
            </a:pPr>
            <a:r>
              <a:rPr sz="2250" b="0">
                <a:solidFill>
                  <a:srgbClr val="20252B"/>
                </a:solidFill>
                <a:latin typeface="Arial"/>
                <a:ea typeface="Arial"/>
                <a:cs typeface="Arial"/>
              </a:rPr>
              <a:t>A user may hold cash when wallet funds are needed, or the reverse.</a:t>
            </a:r>
          </a:p>
        </p:txBody>
      </p:sp>
      <p:sp>
        <p:nvSpPr>
          <p:cNvPr id="7" name="An extra service stop">
            <a:extLst xmlns:a="http://schemas.openxmlformats.org/drawingml/2006/main">
              <a:ext uri="{FF2B5EF4-FFF2-40B4-BE49-F238E27FC236}">
                <a16:creationId xmlns:a16="http://schemas.microsoft.com/office/drawing/2014/main" id="{6C6720A9-A6EA-4C09-8011-9B1799B9F706}"/>
              </a:ext>
            </a:extLst>
          </p:cNvPr>
          <p:cNvSpPr>
            <a:spLocks xmlns:a="http://schemas.openxmlformats.org/drawingml/2006/main" noGrp="1"/>
          </p:cNvSpPr>
          <p:nvPr/>
        </p:nvSpPr>
        <p:spPr>
          <a:xfrm xmlns:a="http://schemas.openxmlformats.org/drawingml/2006/main">
            <a:off x="609600" y="4210050"/>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C2410C"/>
                </a:solidFill>
                <a:latin typeface="Arial"/>
                <a:ea typeface="Arial"/>
                <a:cs typeface="Arial"/>
              </a:defRPr>
            </a:pPr>
            <a:r>
              <a:rPr sz="2250" b="1">
                <a:solidFill>
                  <a:srgbClr val="C2410C"/>
                </a:solidFill>
                <a:latin typeface="Arial"/>
                <a:ea typeface="Arial"/>
                <a:cs typeface="Arial"/>
              </a:rPr>
              <a:t>An extra service stop</a:t>
            </a:r>
          </a:p>
        </p:txBody>
      </p:sp>
      <p:sp>
        <p:nvSpPr>
          <p:cNvPr id="8" name="Finding change or wallet access can add time and e">
            <a:extLst xmlns:a="http://schemas.openxmlformats.org/drawingml/2006/main">
              <a:ext uri="{FF2B5EF4-FFF2-40B4-BE49-F238E27FC236}">
                <a16:creationId xmlns:a16="http://schemas.microsoft.com/office/drawing/2014/main" id="{635AA7E7-C328-4307-86FD-7C606061E98F}"/>
              </a:ext>
            </a:extLst>
          </p:cNvPr>
          <p:cNvSpPr>
            <a:spLocks xmlns:a="http://schemas.openxmlformats.org/drawingml/2006/main" noGrp="1"/>
          </p:cNvSpPr>
          <p:nvPr/>
        </p:nvSpPr>
        <p:spPr>
          <a:xfrm xmlns:a="http://schemas.openxmlformats.org/drawingml/2006/main">
            <a:off x="4324350" y="4210050"/>
            <a:ext cx="712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0252B"/>
                </a:solidFill>
                <a:latin typeface="Arial"/>
                <a:ea typeface="Arial"/>
                <a:cs typeface="Arial"/>
              </a:defRPr>
            </a:pPr>
            <a:r>
              <a:rPr sz="2250" b="0">
                <a:solidFill>
                  <a:srgbClr val="20252B"/>
                </a:solidFill>
                <a:latin typeface="Arial"/>
                <a:ea typeface="Arial"/>
                <a:cs typeface="Arial"/>
              </a:rPr>
              <a:t>Finding change or wallet access can add time and effort.</a:t>
            </a:r>
          </a:p>
        </p:txBody>
      </p:sp>
      <p:sp>
        <p:nvSpPr>
          <p:cNvPr id="9" name="Problem hypotheses. Frequency, inconvenience, and ">
            <a:extLst xmlns:a="http://schemas.openxmlformats.org/drawingml/2006/main">
              <a:ext uri="{FF2B5EF4-FFF2-40B4-BE49-F238E27FC236}">
                <a16:creationId xmlns:a16="http://schemas.microsoft.com/office/drawing/2014/main" id="{A167F85D-77DB-49C0-9566-D7452E00210D}"/>
              </a:ext>
            </a:extLst>
          </p:cNvPr>
          <p:cNvSpPr>
            <a:spLocks xmlns:a="http://schemas.openxmlformats.org/drawingml/2006/main" noGrp="1"/>
          </p:cNvSpPr>
          <p:nvPr/>
        </p:nvSpPr>
        <p:spPr>
          <a:xfrm xmlns:a="http://schemas.openxmlformats.org/drawingml/2006/main">
            <a:off x="609600" y="585787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2676D"/>
                </a:solidFill>
                <a:latin typeface="Arial"/>
                <a:ea typeface="Arial"/>
                <a:cs typeface="Arial"/>
              </a:defRPr>
            </a:pPr>
            <a:r>
              <a:rPr sz="1425" b="0">
                <a:solidFill>
                  <a:srgbClr val="62676D"/>
                </a:solidFill>
                <a:latin typeface="Arial"/>
                <a:ea typeface="Arial"/>
                <a:cs typeface="Arial"/>
              </a:rPr>
              <a:t>Problem hypotheses. Frequency, inconvenience, and current alternatives require interviews.</a:t>
            </a:r>
          </a:p>
        </p:txBody>
      </p:sp>
    </p:spTree>
    <p:extLst>
      <p:ext uri="{BB962C8B-B14F-4D97-AF65-F5344CB8AC3E}">
        <p14:creationId xmlns:p14="http://schemas.microsoft.com/office/powerpoint/2010/main" val="18441109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Initial users and proposed host">
            <a:extLst xmlns:a="http://schemas.openxmlformats.org/drawingml/2006/main">
              <a:ext uri="{FF2B5EF4-FFF2-40B4-BE49-F238E27FC236}">
                <a16:creationId xmlns:a16="http://schemas.microsoft.com/office/drawing/2014/main" id="{81038EFE-D6CE-4236-B9E9-4A50966DD878}"/>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20252B"/>
                </a:solidFill>
                <a:latin typeface="Arial"/>
                <a:ea typeface="Arial"/>
                <a:cs typeface="Arial"/>
              </a:defRPr>
            </a:pPr>
            <a:r>
              <a:rPr sz="3300" b="1">
                <a:solidFill>
                  <a:srgbClr val="20252B"/>
                </a:solidFill>
                <a:latin typeface="Arial"/>
                <a:ea typeface="Arial"/>
                <a:cs typeface="Arial"/>
              </a:rPr>
              <a:t>Initial users and proposed host</a:t>
            </a:r>
          </a:p>
        </p:txBody>
      </p:sp>
      <p:sp>
        <p:nvSpPr>
          <p:cNvPr id="2" name="03">
            <a:extLst xmlns:a="http://schemas.openxmlformats.org/drawingml/2006/main">
              <a:ext uri="{FF2B5EF4-FFF2-40B4-BE49-F238E27FC236}">
                <a16:creationId xmlns:a16="http://schemas.microsoft.com/office/drawing/2014/main" id="{D73B997D-29E0-4820-8D86-644CC0765591}"/>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2676D"/>
                </a:solidFill>
                <a:latin typeface="Arial"/>
                <a:ea typeface="Arial"/>
                <a:cs typeface="Arial"/>
              </a:defRPr>
            </a:pPr>
            <a:r>
              <a:rPr sz="1200" b="0">
                <a:solidFill>
                  <a:srgbClr val="62676D"/>
                </a:solidFill>
                <a:latin typeface="Arial"/>
                <a:ea typeface="Arial"/>
                <a:cs typeface="Arial"/>
              </a:rPr>
              <a:t>03</a:t>
            </a:r>
          </a:p>
        </p:txBody>
      </p:sp>
      <p:graphicFrame>
        <p:nvGraphicFramePr>
          <p:cNvPr id="7" name=""/>
          <p:cNvGraphicFramePr/>
          <p:nvPr/>
        </p:nvGraphicFramePr>
        <p:xfrm>
          <a:off xmlns:a="http://schemas.openxmlformats.org/drawingml/2006/main" x="609600" y="1714500"/>
          <a:ext xmlns:a="http://schemas.openxmlformats.org/drawingml/2006/main" cx="10972800" cy="3429000"/>
        </p:xfrm>
        <a:graphic xmlns:a="http://schemas.openxmlformats.org/drawingml/2006/main">
          <a:graphicData uri="http://schemas.openxmlformats.org/drawingml/2006/table">
            <a:tbl>
              <a:tblPr/>
              <a:tblGrid>
                <a:gridCol w="3571875"/>
                <a:gridCol w="7400925"/>
              </a:tblGrid>
              <a:tr h="857250">
                <a:tc>
                  <a:txBody>
                    <a:bodyPr/>
                    <a:lstStyle/>
                    <a:p>
                      <a:r>
                        <a:rPr sz="2025" b="1">
                          <a:solidFill>
                            <a:srgbClr val="FFFFFF"/>
                          </a:solidFill>
                          <a:latin typeface="Arial"/>
                          <a:ea typeface="Arial"/>
                          <a:cs typeface="Arial"/>
                        </a:rPr>
                        <a:t>Participant</a:t>
                      </a:r>
                    </a:p>
                  </a:txBody>
                  <a:tcPr marL="152400" marR="152400" marT="123825" marB="123825" anchor="ctr">
                    <a:solidFill>
                      <a:srgbClr val="20252B"/>
                    </a:solidFill>
                  </a:tcPr>
                </a:tc>
                <a:tc>
                  <a:txBody>
                    <a:bodyPr/>
                    <a:lstStyle/>
                    <a:p>
                      <a:r>
                        <a:rPr sz="2025" b="1">
                          <a:solidFill>
                            <a:srgbClr val="FFFFFF"/>
                          </a:solidFill>
                          <a:latin typeface="Arial"/>
                          <a:ea typeface="Arial"/>
                          <a:cs typeface="Arial"/>
                        </a:rPr>
                        <a:t>Role in the campus pilot</a:t>
                      </a:r>
                    </a:p>
                  </a:txBody>
                  <a:tcPr marL="152400" marR="152400" marT="123825" marB="123825" anchor="ctr">
                    <a:solidFill>
                      <a:srgbClr val="20252B"/>
                    </a:solidFill>
                  </a:tcPr>
                </a:tc>
              </a:tr>
              <a:tr h="857250">
                <a:tc>
                  <a:txBody>
                    <a:bodyPr/>
                    <a:lstStyle/>
                    <a:p>
                      <a:r>
                        <a:rPr sz="2025" b="0">
                          <a:solidFill>
                            <a:srgbClr val="20252B"/>
                          </a:solidFill>
                          <a:latin typeface="Arial"/>
                          <a:ea typeface="Arial"/>
                          <a:cs typeface="Arial"/>
                        </a:rPr>
                        <a:t>Students and staff</a:t>
                      </a:r>
                    </a:p>
                  </a:txBody>
                  <a:tcPr marL="152400" marR="152400" marT="123825" marB="123825" anchor="ctr">
                    <a:solidFill>
                      <a:srgbClr val="F4F5F6"/>
                    </a:solidFill>
                  </a:tcPr>
                </a:tc>
                <a:tc>
                  <a:txBody>
                    <a:bodyPr/>
                    <a:lstStyle/>
                    <a:p>
                      <a:r>
                        <a:rPr sz="2025" b="0">
                          <a:solidFill>
                            <a:srgbClr val="20252B"/>
                          </a:solidFill>
                          <a:latin typeface="Arial"/>
                          <a:ea typeface="Arial"/>
                          <a:cs typeface="Arial"/>
                        </a:rPr>
                        <a:t>Initial users and transaction-fee customers</a:t>
                      </a:r>
                    </a:p>
                  </a:txBody>
                  <a:tcPr marL="152400" marR="152400" marT="123825" marB="123825" anchor="ctr">
                    <a:solidFill>
                      <a:srgbClr val="F4F5F6"/>
                    </a:solidFill>
                  </a:tcPr>
                </a:tc>
              </a:tr>
              <a:tr h="857250">
                <a:tc>
                  <a:txBody>
                    <a:bodyPr/>
                    <a:lstStyle/>
                    <a:p>
                      <a:r>
                        <a:rPr sz="2025" b="0">
                          <a:solidFill>
                            <a:srgbClr val="20252B"/>
                          </a:solidFill>
                          <a:latin typeface="Arial"/>
                          <a:ea typeface="Arial"/>
                          <a:cs typeface="Arial"/>
                        </a:rPr>
                        <a:t>Campus administration</a:t>
                      </a:r>
                    </a:p>
                  </a:txBody>
                  <a:tcPr marL="152400" marR="152400" marT="123825" marB="123825" anchor="ctr">
                    <a:solidFill>
                      <a:srgbClr val="FFFFFF"/>
                    </a:solidFill>
                  </a:tcPr>
                </a:tc>
                <a:tc>
                  <a:txBody>
                    <a:bodyPr/>
                    <a:lstStyle/>
                    <a:p>
                      <a:r>
                        <a:rPr sz="2025" b="0">
                          <a:solidFill>
                            <a:srgbClr val="20252B"/>
                          </a:solidFill>
                          <a:latin typeface="Arial"/>
                          <a:ea typeface="Arial"/>
                          <a:cs typeface="Arial"/>
                        </a:rPr>
                        <a:t>Proposed host and deployment approver</a:t>
                      </a:r>
                    </a:p>
                  </a:txBody>
                  <a:tcPr marL="152400" marR="152400" marT="123825" marB="123825" anchor="ctr">
                    <a:solidFill>
                      <a:srgbClr val="FFFFFF"/>
                    </a:solidFill>
                  </a:tcPr>
                </a:tc>
              </a:tr>
              <a:tr h="857250">
                <a:tc>
                  <a:txBody>
                    <a:bodyPr/>
                    <a:lstStyle/>
                    <a:p>
                      <a:r>
                        <a:rPr sz="2025" b="0">
                          <a:solidFill>
                            <a:srgbClr val="20252B"/>
                          </a:solidFill>
                          <a:latin typeface="Arial"/>
                          <a:ea typeface="Arial"/>
                          <a:cs typeface="Arial"/>
                        </a:rPr>
                        <a:t>Nearby merchants</a:t>
                      </a:r>
                    </a:p>
                  </a:txBody>
                  <a:tcPr marL="152400" marR="152400" marT="123825" marB="123825" anchor="ctr">
                    <a:solidFill>
                      <a:srgbClr val="F4F5F6"/>
                    </a:solidFill>
                  </a:tcPr>
                </a:tc>
                <a:tc>
                  <a:txBody>
                    <a:bodyPr/>
                    <a:lstStyle/>
                    <a:p>
                      <a:r>
                        <a:rPr sz="2025" b="0">
                          <a:solidFill>
                            <a:srgbClr val="20252B"/>
                          </a:solidFill>
                          <a:latin typeface="Arial"/>
                          <a:ea typeface="Arial"/>
                          <a:cs typeface="Arial"/>
                        </a:rPr>
                        <a:t>Secondary beneficiaries and interview participants</a:t>
                      </a:r>
                    </a:p>
                  </a:txBody>
                  <a:tcPr marL="152400" marR="152400" marT="123825" marB="123825" anchor="ctr">
                    <a:solidFill>
                      <a:srgbClr val="F4F5F6"/>
                    </a:solidFill>
                  </a:tcPr>
                </a:tc>
              </a:tr>
            </a:tbl>
          </a:graphicData>
        </a:graphic>
      </p:graphicFrame>
      <p:sp>
        <p:nvSpPr>
          <p:cNvPr id="4" name="Early adopters: users with recurring needs who acc">
            <a:extLst xmlns:a="http://schemas.openxmlformats.org/drawingml/2006/main">
              <a:ext uri="{FF2B5EF4-FFF2-40B4-BE49-F238E27FC236}">
                <a16:creationId xmlns:a16="http://schemas.microsoft.com/office/drawing/2014/main" id="{1A5482CD-C4F9-4F75-AA69-792D327216E6}"/>
              </a:ext>
            </a:extLst>
          </p:cNvPr>
          <p:cNvSpPr>
            <a:spLocks xmlns:a="http://schemas.openxmlformats.org/drawingml/2006/main" noGrp="1"/>
          </p:cNvSpPr>
          <p:nvPr/>
        </p:nvSpPr>
        <p:spPr>
          <a:xfrm xmlns:a="http://schemas.openxmlformats.org/drawingml/2006/main">
            <a:off x="609600" y="585787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2676D"/>
                </a:solidFill>
                <a:latin typeface="Arial"/>
                <a:ea typeface="Arial"/>
                <a:cs typeface="Arial"/>
              </a:defRPr>
            </a:pPr>
            <a:r>
              <a:rPr sz="1425" b="0">
                <a:solidFill>
                  <a:srgbClr val="62676D"/>
                </a:solidFill>
                <a:latin typeface="Arial"/>
                <a:ea typeface="Arial"/>
                <a:cs typeface="Arial"/>
              </a:rPr>
              <a:t>Early adopters: users with recurring needs who accept a disclosed fee. No host commitment is claimed.</a:t>
            </a:r>
          </a:p>
        </p:txBody>
      </p:sp>
    </p:spTree>
    <p:extLst>
      <p:ext uri="{BB962C8B-B14F-4D97-AF65-F5344CB8AC3E}">
        <p14:creationId xmlns:p14="http://schemas.microsoft.com/office/powerpoint/2010/main" val="3010273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he Coinnect solution">
            <a:extLst xmlns:a="http://schemas.openxmlformats.org/drawingml/2006/main">
              <a:ext uri="{FF2B5EF4-FFF2-40B4-BE49-F238E27FC236}">
                <a16:creationId xmlns:a16="http://schemas.microsoft.com/office/drawing/2014/main" id="{A8C0BA97-F69B-449B-BF2C-BC5A6E78B8E7}"/>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20252B"/>
                </a:solidFill>
                <a:latin typeface="Arial"/>
                <a:ea typeface="Arial"/>
                <a:cs typeface="Arial"/>
              </a:defRPr>
            </a:pPr>
            <a:r>
              <a:rPr sz="3300" b="1">
                <a:solidFill>
                  <a:srgbClr val="20252B"/>
                </a:solidFill>
                <a:latin typeface="Arial"/>
                <a:ea typeface="Arial"/>
                <a:cs typeface="Arial"/>
              </a:rPr>
              <a:t>The Coinnect solution</a:t>
            </a:r>
          </a:p>
        </p:txBody>
      </p:sp>
      <p:sp>
        <p:nvSpPr>
          <p:cNvPr id="2" name="04">
            <a:extLst xmlns:a="http://schemas.openxmlformats.org/drawingml/2006/main">
              <a:ext uri="{FF2B5EF4-FFF2-40B4-BE49-F238E27FC236}">
                <a16:creationId xmlns:a16="http://schemas.microsoft.com/office/drawing/2014/main" id="{75F58760-C481-4BC9-BC99-EE96F69347B0}"/>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2676D"/>
                </a:solidFill>
                <a:latin typeface="Arial"/>
                <a:ea typeface="Arial"/>
                <a:cs typeface="Arial"/>
              </a:defRPr>
            </a:pPr>
            <a:r>
              <a:rPr sz="1200" b="0">
                <a:solidFill>
                  <a:srgbClr val="62676D"/>
                </a:solidFill>
                <a:latin typeface="Arial"/>
                <a:ea typeface="Arial"/>
                <a:cs typeface="Arial"/>
              </a:rPr>
              <a:t>04</a:t>
            </a:r>
          </a:p>
        </p:txBody>
      </p:sp>
      <p:sp>
        <p:nvSpPr>
          <p:cNvPr id="3" name="First pilot priority">
            <a:extLst xmlns:a="http://schemas.openxmlformats.org/drawingml/2006/main">
              <a:ext uri="{FF2B5EF4-FFF2-40B4-BE49-F238E27FC236}">
                <a16:creationId xmlns:a16="http://schemas.microsoft.com/office/drawing/2014/main" id="{8EA36A01-DE69-4224-90A8-0462E2B4C053}"/>
              </a:ext>
            </a:extLst>
          </p:cNvPr>
          <p:cNvSpPr>
            <a:spLocks xmlns:a="http://schemas.openxmlformats.org/drawingml/2006/main" noGrp="1"/>
          </p:cNvSpPr>
          <p:nvPr/>
        </p:nvSpPr>
        <p:spPr>
          <a:xfrm xmlns:a="http://schemas.openxmlformats.org/drawingml/2006/main">
            <a:off x="609600" y="17621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C2410C"/>
                </a:solidFill>
                <a:latin typeface="Arial"/>
                <a:ea typeface="Arial"/>
                <a:cs typeface="Arial"/>
              </a:defRPr>
            </a:pPr>
            <a:r>
              <a:rPr sz="2175" b="1">
                <a:solidFill>
                  <a:srgbClr val="C2410C"/>
                </a:solidFill>
                <a:latin typeface="Arial"/>
                <a:ea typeface="Arial"/>
                <a:cs typeface="Arial"/>
              </a:rPr>
              <a:t>First pilot priority</a:t>
            </a:r>
          </a:p>
        </p:txBody>
      </p:sp>
      <p:sp>
        <p:nvSpPr>
          <p:cNvPr id="4" name="Philippine peso&#10;bill and coin conversion">
            <a:extLst xmlns:a="http://schemas.openxmlformats.org/drawingml/2006/main">
              <a:ext uri="{FF2B5EF4-FFF2-40B4-BE49-F238E27FC236}">
                <a16:creationId xmlns:a16="http://schemas.microsoft.com/office/drawing/2014/main" id="{8E7FF136-68B0-4DA1-9C99-13B29C3876E9}"/>
              </a:ext>
            </a:extLst>
          </p:cNvPr>
          <p:cNvSpPr>
            <a:spLocks xmlns:a="http://schemas.openxmlformats.org/drawingml/2006/main" noGrp="1"/>
          </p:cNvSpPr>
          <p:nvPr/>
        </p:nvSpPr>
        <p:spPr>
          <a:xfrm xmlns:a="http://schemas.openxmlformats.org/drawingml/2006/main">
            <a:off x="609600" y="2428875"/>
            <a:ext cx="647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20252B"/>
                </a:solidFill>
                <a:latin typeface="Arial"/>
                <a:ea typeface="Arial"/>
                <a:cs typeface="Arial"/>
              </a:defRPr>
            </a:pPr>
            <a:r>
              <a:rPr sz="3375" b="1">
                <a:solidFill>
                  <a:srgbClr val="20252B"/>
                </a:solidFill>
                <a:latin typeface="Arial"/>
                <a:ea typeface="Arial"/>
                <a:cs typeface="Arial"/>
              </a:rPr>
              <a:t>Philippine peso</a:t>
            </a:r>
          </a:p>
          <a:p xmlns:a="http://schemas.openxmlformats.org/drawingml/2006/main">
            <a:pPr>
              <a:defRPr sz="3375" b="1">
                <a:solidFill>
                  <a:srgbClr val="20252B"/>
                </a:solidFill>
                <a:latin typeface="Arial"/>
                <a:ea typeface="Arial"/>
                <a:cs typeface="Arial"/>
              </a:defRPr>
            </a:pPr>
            <a:r>
              <a:rPr sz="3375" b="1">
                <a:solidFill>
                  <a:srgbClr val="20252B"/>
                </a:solidFill>
                <a:latin typeface="Arial"/>
                <a:ea typeface="Arial"/>
                <a:cs typeface="Arial"/>
              </a:rPr>
              <a:t>bill and coin conversion</a:t>
            </a:r>
          </a:p>
        </p:txBody>
      </p:sp>
      <p:sp>
        <p:nvSpPr>
          <p:cNvPr id="5" name="Bill to coin • Coin to bill • Bill to bill">
            <a:extLst xmlns:a="http://schemas.openxmlformats.org/drawingml/2006/main">
              <a:ext uri="{FF2B5EF4-FFF2-40B4-BE49-F238E27FC236}">
                <a16:creationId xmlns:a16="http://schemas.microsoft.com/office/drawing/2014/main" id="{CD16F499-C221-46D7-9CEA-DF74B7711E1B}"/>
              </a:ext>
            </a:extLst>
          </p:cNvPr>
          <p:cNvSpPr>
            <a:spLocks xmlns:a="http://schemas.openxmlformats.org/drawingml/2006/main" noGrp="1"/>
          </p:cNvSpPr>
          <p:nvPr/>
        </p:nvSpPr>
        <p:spPr>
          <a:xfrm xmlns:a="http://schemas.openxmlformats.org/drawingml/2006/main">
            <a:off x="609600" y="4095750"/>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0252B"/>
                </a:solidFill>
                <a:latin typeface="Arial"/>
                <a:ea typeface="Arial"/>
                <a:cs typeface="Arial"/>
              </a:defRPr>
            </a:pPr>
            <a:r>
              <a:rPr sz="2025" b="0">
                <a:solidFill>
                  <a:srgbClr val="20252B"/>
                </a:solidFill>
                <a:latin typeface="Arial"/>
                <a:ea typeface="Arial"/>
                <a:cs typeface="Arial"/>
              </a:rPr>
              <a:t>Bill to coin • Coin to bill • Bill to bill</a:t>
            </a:r>
          </a:p>
        </p:txBody>
      </p:sp>
      <p:sp>
        <p:nvSpPr>
          <p:cNvPr id="6" name="Designed for local operation&#10;without internet conn">
            <a:extLst xmlns:a="http://schemas.openxmlformats.org/drawingml/2006/main">
              <a:ext uri="{FF2B5EF4-FFF2-40B4-BE49-F238E27FC236}">
                <a16:creationId xmlns:a16="http://schemas.microsoft.com/office/drawing/2014/main" id="{0AAA694E-B017-45D3-84B6-AF3C2F5F6FA4}"/>
              </a:ext>
            </a:extLst>
          </p:cNvPr>
          <p:cNvSpPr>
            <a:spLocks xmlns:a="http://schemas.openxmlformats.org/drawingml/2006/main" noGrp="1"/>
          </p:cNvSpPr>
          <p:nvPr/>
        </p:nvSpPr>
        <p:spPr>
          <a:xfrm xmlns:a="http://schemas.openxmlformats.org/drawingml/2006/main">
            <a:off x="609600" y="500062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2676D"/>
                </a:solidFill>
                <a:latin typeface="Arial"/>
                <a:ea typeface="Arial"/>
                <a:cs typeface="Arial"/>
              </a:defRPr>
            </a:pPr>
            <a:r>
              <a:rPr sz="2025" b="0">
                <a:solidFill>
                  <a:srgbClr val="62676D"/>
                </a:solidFill>
                <a:latin typeface="Arial"/>
                <a:ea typeface="Arial"/>
                <a:cs typeface="Arial"/>
              </a:rPr>
              <a:t>Designed for local operation</a:t>
            </a:r>
          </a:p>
          <a:p xmlns:a="http://schemas.openxmlformats.org/drawingml/2006/main">
            <a:pPr>
              <a:defRPr sz="2025" b="0">
                <a:solidFill>
                  <a:srgbClr val="62676D"/>
                </a:solidFill>
                <a:latin typeface="Arial"/>
                <a:ea typeface="Arial"/>
                <a:cs typeface="Arial"/>
              </a:defRPr>
            </a:pPr>
            <a:r>
              <a:rPr sz="2025" b="0">
                <a:solidFill>
                  <a:srgbClr val="62676D"/>
                </a:solidFill>
                <a:latin typeface="Arial"/>
                <a:ea typeface="Arial"/>
                <a:cs typeface="Arial"/>
              </a:rPr>
              <a:t>without internet connectivity</a:t>
            </a:r>
          </a:p>
        </p:txBody>
      </p:sp>
      <p:sp>
        <p:nvSpPr>
          <p:cNvPr id="7" name="Wallet services">
            <a:extLst xmlns:a="http://schemas.openxmlformats.org/drawingml/2006/main">
              <a:ext uri="{FF2B5EF4-FFF2-40B4-BE49-F238E27FC236}">
                <a16:creationId xmlns:a16="http://schemas.microsoft.com/office/drawing/2014/main" id="{AFC99447-36EA-412E-A892-27D11106FCB6}"/>
              </a:ext>
            </a:extLst>
          </p:cNvPr>
          <p:cNvSpPr>
            <a:spLocks xmlns:a="http://schemas.openxmlformats.org/drawingml/2006/main" noGrp="1"/>
          </p:cNvSpPr>
          <p:nvPr/>
        </p:nvSpPr>
        <p:spPr>
          <a:xfrm xmlns:a="http://schemas.openxmlformats.org/drawingml/2006/main">
            <a:off x="7848600" y="1762125"/>
            <a:ext cx="3667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C2410C"/>
                </a:solidFill>
                <a:latin typeface="Arial"/>
                <a:ea typeface="Arial"/>
                <a:cs typeface="Arial"/>
              </a:defRPr>
            </a:pPr>
            <a:r>
              <a:rPr sz="2250" b="1">
                <a:solidFill>
                  <a:srgbClr val="C2410C"/>
                </a:solidFill>
                <a:latin typeface="Arial"/>
                <a:ea typeface="Arial"/>
                <a:cs typeface="Arial"/>
              </a:rPr>
              <a:t>Wallet services</a:t>
            </a:r>
          </a:p>
        </p:txBody>
      </p:sp>
      <p:sp>
        <p:nvSpPr>
          <p:cNvPr id="8" name="Cash-in and cash-out after&#10;integration testing and">
            <a:extLst xmlns:a="http://schemas.openxmlformats.org/drawingml/2006/main">
              <a:ext uri="{FF2B5EF4-FFF2-40B4-BE49-F238E27FC236}">
                <a16:creationId xmlns:a16="http://schemas.microsoft.com/office/drawing/2014/main" id="{D7C2C361-2068-4993-8A74-850DB562F39B}"/>
              </a:ext>
            </a:extLst>
          </p:cNvPr>
          <p:cNvSpPr>
            <a:spLocks xmlns:a="http://schemas.openxmlformats.org/drawingml/2006/main" noGrp="1"/>
          </p:cNvSpPr>
          <p:nvPr/>
        </p:nvSpPr>
        <p:spPr>
          <a:xfrm xmlns:a="http://schemas.openxmlformats.org/drawingml/2006/main">
            <a:off x="7848600" y="2428875"/>
            <a:ext cx="3667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0252B"/>
                </a:solidFill>
                <a:latin typeface="Arial"/>
                <a:ea typeface="Arial"/>
                <a:cs typeface="Arial"/>
              </a:defRPr>
            </a:pPr>
            <a:r>
              <a:rPr sz="2100" b="0">
                <a:solidFill>
                  <a:srgbClr val="20252B"/>
                </a:solidFill>
                <a:latin typeface="Arial"/>
                <a:ea typeface="Arial"/>
                <a:cs typeface="Arial"/>
              </a:rPr>
              <a:t>Cash-in and cash-out after</a:t>
            </a:r>
          </a:p>
          <a:p xmlns:a="http://schemas.openxmlformats.org/drawingml/2006/main">
            <a:pPr>
              <a:defRPr sz="2100" b="0">
                <a:solidFill>
                  <a:srgbClr val="20252B"/>
                </a:solidFill>
                <a:latin typeface="Arial"/>
                <a:ea typeface="Arial"/>
                <a:cs typeface="Arial"/>
              </a:defRPr>
            </a:pPr>
            <a:r>
              <a:rPr sz="2100" b="0">
                <a:solidFill>
                  <a:srgbClr val="20252B"/>
                </a:solidFill>
                <a:latin typeface="Arial"/>
                <a:ea typeface="Arial"/>
                <a:cs typeface="Arial"/>
              </a:rPr>
              <a:t>integration testing and</a:t>
            </a:r>
          </a:p>
          <a:p xmlns:a="http://schemas.openxmlformats.org/drawingml/2006/main">
            <a:pPr>
              <a:defRPr sz="2100" b="0">
                <a:solidFill>
                  <a:srgbClr val="20252B"/>
                </a:solidFill>
                <a:latin typeface="Arial"/>
                <a:ea typeface="Arial"/>
                <a:cs typeface="Arial"/>
              </a:defRPr>
            </a:pPr>
            <a:r>
              <a:rPr sz="2100" b="0">
                <a:solidFill>
                  <a:srgbClr val="20252B"/>
                </a:solidFill>
                <a:latin typeface="Arial"/>
                <a:ea typeface="Arial"/>
                <a:cs typeface="Arial"/>
              </a:rPr>
              <a:t>operating readiness</a:t>
            </a:r>
          </a:p>
        </p:txBody>
      </p:sp>
      <p:sp>
        <p:nvSpPr>
          <p:cNvPr id="9" name="Later capability">
            <a:extLst xmlns:a="http://schemas.openxmlformats.org/drawingml/2006/main">
              <a:ext uri="{FF2B5EF4-FFF2-40B4-BE49-F238E27FC236}">
                <a16:creationId xmlns:a16="http://schemas.microsoft.com/office/drawing/2014/main" id="{8F584E99-EB12-47A3-86A5-382427B84C27}"/>
              </a:ext>
            </a:extLst>
          </p:cNvPr>
          <p:cNvSpPr>
            <a:spLocks xmlns:a="http://schemas.openxmlformats.org/drawingml/2006/main" noGrp="1"/>
          </p:cNvSpPr>
          <p:nvPr/>
        </p:nvSpPr>
        <p:spPr>
          <a:xfrm xmlns:a="http://schemas.openxmlformats.org/drawingml/2006/main">
            <a:off x="7848600" y="4286250"/>
            <a:ext cx="366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C2410C"/>
                </a:solidFill>
                <a:latin typeface="Arial"/>
                <a:ea typeface="Arial"/>
                <a:cs typeface="Arial"/>
              </a:defRPr>
            </a:pPr>
            <a:r>
              <a:rPr sz="1875" b="1">
                <a:solidFill>
                  <a:srgbClr val="C2410C"/>
                </a:solidFill>
                <a:latin typeface="Arial"/>
                <a:ea typeface="Arial"/>
                <a:cs typeface="Arial"/>
              </a:rPr>
              <a:t>Later capability</a:t>
            </a:r>
          </a:p>
        </p:txBody>
      </p:sp>
      <p:sp>
        <p:nvSpPr>
          <p:cNvPr id="10" name="Foreign exchange">
            <a:extLst xmlns:a="http://schemas.openxmlformats.org/drawingml/2006/main">
              <a:ext uri="{FF2B5EF4-FFF2-40B4-BE49-F238E27FC236}">
                <a16:creationId xmlns:a16="http://schemas.microsoft.com/office/drawing/2014/main" id="{B2F0B865-76AC-4EFD-9D5A-4CD6D5D744B6}"/>
              </a:ext>
            </a:extLst>
          </p:cNvPr>
          <p:cNvSpPr>
            <a:spLocks xmlns:a="http://schemas.openxmlformats.org/drawingml/2006/main" noGrp="1"/>
          </p:cNvSpPr>
          <p:nvPr/>
        </p:nvSpPr>
        <p:spPr>
          <a:xfrm xmlns:a="http://schemas.openxmlformats.org/drawingml/2006/main">
            <a:off x="7848600" y="4876800"/>
            <a:ext cx="3667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0252B"/>
                </a:solidFill>
                <a:latin typeface="Arial"/>
                <a:ea typeface="Arial"/>
                <a:cs typeface="Arial"/>
              </a:defRPr>
            </a:pPr>
            <a:r>
              <a:rPr sz="2250" b="0">
                <a:solidFill>
                  <a:srgbClr val="20252B"/>
                </a:solidFill>
                <a:latin typeface="Arial"/>
                <a:ea typeface="Arial"/>
                <a:cs typeface="Arial"/>
              </a:rPr>
              <a:t>Foreign exchange</a:t>
            </a:r>
          </a:p>
        </p:txBody>
      </p:sp>
    </p:spTree>
    <p:extLst>
      <p:ext uri="{BB962C8B-B14F-4D97-AF65-F5344CB8AC3E}">
        <p14:creationId xmlns:p14="http://schemas.microsoft.com/office/powerpoint/2010/main" val="7937637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 guided transaction">
            <a:extLst xmlns:a="http://schemas.openxmlformats.org/drawingml/2006/main">
              <a:ext uri="{FF2B5EF4-FFF2-40B4-BE49-F238E27FC236}">
                <a16:creationId xmlns:a16="http://schemas.microsoft.com/office/drawing/2014/main" id="{66E7AB8E-A743-49B9-9923-705053D4B3C6}"/>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20252B"/>
                </a:solidFill>
                <a:latin typeface="Arial"/>
                <a:ea typeface="Arial"/>
                <a:cs typeface="Arial"/>
              </a:defRPr>
            </a:pPr>
            <a:r>
              <a:rPr sz="3300" b="1">
                <a:solidFill>
                  <a:srgbClr val="20252B"/>
                </a:solidFill>
                <a:latin typeface="Arial"/>
                <a:ea typeface="Arial"/>
                <a:cs typeface="Arial"/>
              </a:rPr>
              <a:t>A guided transaction</a:t>
            </a:r>
          </a:p>
        </p:txBody>
      </p:sp>
      <p:sp>
        <p:nvSpPr>
          <p:cNvPr id="2" name="05">
            <a:extLst xmlns:a="http://schemas.openxmlformats.org/drawingml/2006/main">
              <a:ext uri="{FF2B5EF4-FFF2-40B4-BE49-F238E27FC236}">
                <a16:creationId xmlns:a16="http://schemas.microsoft.com/office/drawing/2014/main" id="{72F2A8C5-BF10-44F7-8315-14F3D457BCC5}"/>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2676D"/>
                </a:solidFill>
                <a:latin typeface="Arial"/>
                <a:ea typeface="Arial"/>
                <a:cs typeface="Arial"/>
              </a:defRPr>
            </a:pPr>
            <a:r>
              <a:rPr sz="1200" b="0">
                <a:solidFill>
                  <a:srgbClr val="62676D"/>
                </a:solidFill>
                <a:latin typeface="Arial"/>
                <a:ea typeface="Arial"/>
                <a:cs typeface="Arial"/>
              </a:rPr>
              <a:t>05</a:t>
            </a:r>
          </a:p>
        </p:txBody>
      </p:sp>
      <p:sp>
        <p:nvSpPr>
          <p:cNvPr id="3" name="01">
            <a:extLst xmlns:a="http://schemas.openxmlformats.org/drawingml/2006/main">
              <a:ext uri="{FF2B5EF4-FFF2-40B4-BE49-F238E27FC236}">
                <a16:creationId xmlns:a16="http://schemas.microsoft.com/office/drawing/2014/main" id="{0E56BE64-CB8F-4601-8A52-48FBA3DDBB3F}"/>
              </a:ext>
            </a:extLst>
          </p:cNvPr>
          <p:cNvSpPr>
            <a:spLocks xmlns:a="http://schemas.openxmlformats.org/drawingml/2006/main" noGrp="1"/>
          </p:cNvSpPr>
          <p:nvPr/>
        </p:nvSpPr>
        <p:spPr>
          <a:xfrm xmlns:a="http://schemas.openxmlformats.org/drawingml/2006/main">
            <a:off x="609600" y="18097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C2410C"/>
                </a:solidFill>
                <a:latin typeface="Arial"/>
                <a:ea typeface="Arial"/>
                <a:cs typeface="Arial"/>
              </a:defRPr>
            </a:pPr>
            <a:r>
              <a:rPr sz="3000" b="1">
                <a:solidFill>
                  <a:srgbClr val="C2410C"/>
                </a:solidFill>
                <a:latin typeface="Arial"/>
                <a:ea typeface="Arial"/>
                <a:cs typeface="Arial"/>
              </a:rPr>
              <a:t>01</a:t>
            </a:r>
          </a:p>
        </p:txBody>
      </p:sp>
      <p:sp>
        <p:nvSpPr>
          <p:cNvPr id="4" name="Choose and review">
            <a:extLst xmlns:a="http://schemas.openxmlformats.org/drawingml/2006/main">
              <a:ext uri="{FF2B5EF4-FFF2-40B4-BE49-F238E27FC236}">
                <a16:creationId xmlns:a16="http://schemas.microsoft.com/office/drawing/2014/main" id="{074A2923-63B6-4065-936E-9DF09B192309}"/>
              </a:ext>
            </a:extLst>
          </p:cNvPr>
          <p:cNvSpPr>
            <a:spLocks xmlns:a="http://schemas.openxmlformats.org/drawingml/2006/main" noGrp="1"/>
          </p:cNvSpPr>
          <p:nvPr/>
        </p:nvSpPr>
        <p:spPr>
          <a:xfrm xmlns:a="http://schemas.openxmlformats.org/drawingml/2006/main">
            <a:off x="1514475" y="18097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20252B"/>
                </a:solidFill>
                <a:latin typeface="Arial"/>
                <a:ea typeface="Arial"/>
                <a:cs typeface="Arial"/>
              </a:defRPr>
            </a:pPr>
            <a:r>
              <a:rPr sz="2175" b="1">
                <a:solidFill>
                  <a:srgbClr val="20252B"/>
                </a:solidFill>
                <a:latin typeface="Arial"/>
                <a:ea typeface="Arial"/>
                <a:cs typeface="Arial"/>
              </a:rPr>
              <a:t>Choose and review</a:t>
            </a:r>
          </a:p>
        </p:txBody>
      </p:sp>
      <p:sp>
        <p:nvSpPr>
          <p:cNvPr id="5" name="Service, available amount,&#10;output denominations, a">
            <a:extLst xmlns:a="http://schemas.openxmlformats.org/drawingml/2006/main">
              <a:ext uri="{FF2B5EF4-FFF2-40B4-BE49-F238E27FC236}">
                <a16:creationId xmlns:a16="http://schemas.microsoft.com/office/drawing/2014/main" id="{0CB5DA41-E047-4CDB-B588-5548B708CEC0}"/>
              </a:ext>
            </a:extLst>
          </p:cNvPr>
          <p:cNvSpPr>
            <a:spLocks xmlns:a="http://schemas.openxmlformats.org/drawingml/2006/main" noGrp="1"/>
          </p:cNvSpPr>
          <p:nvPr/>
        </p:nvSpPr>
        <p:spPr>
          <a:xfrm xmlns:a="http://schemas.openxmlformats.org/drawingml/2006/main">
            <a:off x="1514475" y="2428875"/>
            <a:ext cx="438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Service, available amount,</a:t>
            </a:r>
          </a:p>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output denominations, and fee</a:t>
            </a:r>
          </a:p>
        </p:txBody>
      </p:sp>
      <p:sp>
        <p:nvSpPr>
          <p:cNvPr id="6" name="02">
            <a:extLst xmlns:a="http://schemas.openxmlformats.org/drawingml/2006/main">
              <a:ext uri="{FF2B5EF4-FFF2-40B4-BE49-F238E27FC236}">
                <a16:creationId xmlns:a16="http://schemas.microsoft.com/office/drawing/2014/main" id="{F6A96181-9FFC-421A-8181-089A6087234F}"/>
              </a:ext>
            </a:extLst>
          </p:cNvPr>
          <p:cNvSpPr>
            <a:spLocks xmlns:a="http://schemas.openxmlformats.org/drawingml/2006/main" noGrp="1"/>
          </p:cNvSpPr>
          <p:nvPr/>
        </p:nvSpPr>
        <p:spPr>
          <a:xfrm xmlns:a="http://schemas.openxmlformats.org/drawingml/2006/main">
            <a:off x="6619875" y="18097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C2410C"/>
                </a:solidFill>
                <a:latin typeface="Arial"/>
                <a:ea typeface="Arial"/>
                <a:cs typeface="Arial"/>
              </a:defRPr>
            </a:pPr>
            <a:r>
              <a:rPr sz="3000" b="1">
                <a:solidFill>
                  <a:srgbClr val="C2410C"/>
                </a:solidFill>
                <a:latin typeface="Arial"/>
                <a:ea typeface="Arial"/>
                <a:cs typeface="Arial"/>
              </a:rPr>
              <a:t>02</a:t>
            </a:r>
          </a:p>
        </p:txBody>
      </p:sp>
      <p:sp>
        <p:nvSpPr>
          <p:cNvPr id="7" name="Insert cash or pay">
            <a:extLst xmlns:a="http://schemas.openxmlformats.org/drawingml/2006/main">
              <a:ext uri="{FF2B5EF4-FFF2-40B4-BE49-F238E27FC236}">
                <a16:creationId xmlns:a16="http://schemas.microsoft.com/office/drawing/2014/main" id="{4AEB9CDC-BB01-4A63-8B02-F95E8C502FBB}"/>
              </a:ext>
            </a:extLst>
          </p:cNvPr>
          <p:cNvSpPr>
            <a:spLocks xmlns:a="http://schemas.openxmlformats.org/drawingml/2006/main" noGrp="1"/>
          </p:cNvSpPr>
          <p:nvPr/>
        </p:nvSpPr>
        <p:spPr>
          <a:xfrm xmlns:a="http://schemas.openxmlformats.org/drawingml/2006/main">
            <a:off x="7524750" y="18097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20252B"/>
                </a:solidFill>
                <a:latin typeface="Arial"/>
                <a:ea typeface="Arial"/>
                <a:cs typeface="Arial"/>
              </a:defRPr>
            </a:pPr>
            <a:r>
              <a:rPr sz="2175" b="1">
                <a:solidFill>
                  <a:srgbClr val="20252B"/>
                </a:solidFill>
                <a:latin typeface="Arial"/>
                <a:ea typeface="Arial"/>
                <a:cs typeface="Arial"/>
              </a:rPr>
              <a:t>Insert cash or pay</a:t>
            </a:r>
          </a:p>
        </p:txBody>
      </p:sp>
      <p:sp>
        <p:nvSpPr>
          <p:cNvPr id="8" name="Count accepted funds or&#10;verify the wallet payment">
            <a:extLst xmlns:a="http://schemas.openxmlformats.org/drawingml/2006/main">
              <a:ext uri="{FF2B5EF4-FFF2-40B4-BE49-F238E27FC236}">
                <a16:creationId xmlns:a16="http://schemas.microsoft.com/office/drawing/2014/main" id="{9FBA2032-D95A-45F6-B64E-941E33ACF984}"/>
              </a:ext>
            </a:extLst>
          </p:cNvPr>
          <p:cNvSpPr>
            <a:spLocks xmlns:a="http://schemas.openxmlformats.org/drawingml/2006/main" noGrp="1"/>
          </p:cNvSpPr>
          <p:nvPr/>
        </p:nvSpPr>
        <p:spPr>
          <a:xfrm xmlns:a="http://schemas.openxmlformats.org/drawingml/2006/main">
            <a:off x="7524750" y="2428875"/>
            <a:ext cx="438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Count accepted funds or</a:t>
            </a:r>
          </a:p>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verify the wallet payment</a:t>
            </a:r>
          </a:p>
        </p:txBody>
      </p:sp>
      <p:sp>
        <p:nvSpPr>
          <p:cNvPr id="9" name="03">
            <a:extLst xmlns:a="http://schemas.openxmlformats.org/drawingml/2006/main">
              <a:ext uri="{FF2B5EF4-FFF2-40B4-BE49-F238E27FC236}">
                <a16:creationId xmlns:a16="http://schemas.microsoft.com/office/drawing/2014/main" id="{943E6111-F5A2-4A1A-B465-1ADDDBE6910E}"/>
              </a:ext>
            </a:extLst>
          </p:cNvPr>
          <p:cNvSpPr>
            <a:spLocks xmlns:a="http://schemas.openxmlformats.org/drawingml/2006/main" noGrp="1"/>
          </p:cNvSpPr>
          <p:nvPr/>
        </p:nvSpPr>
        <p:spPr>
          <a:xfrm xmlns:a="http://schemas.openxmlformats.org/drawingml/2006/main">
            <a:off x="609600" y="38290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C2410C"/>
                </a:solidFill>
                <a:latin typeface="Arial"/>
                <a:ea typeface="Arial"/>
                <a:cs typeface="Arial"/>
              </a:defRPr>
            </a:pPr>
            <a:r>
              <a:rPr sz="3000" b="1">
                <a:solidFill>
                  <a:srgbClr val="C2410C"/>
                </a:solidFill>
                <a:latin typeface="Arial"/>
                <a:ea typeface="Arial"/>
                <a:cs typeface="Arial"/>
              </a:rPr>
              <a:t>03</a:t>
            </a:r>
          </a:p>
        </p:txBody>
      </p:sp>
      <p:sp>
        <p:nvSpPr>
          <p:cNvPr id="10" name="Complete the service">
            <a:extLst xmlns:a="http://schemas.openxmlformats.org/drawingml/2006/main">
              <a:ext uri="{FF2B5EF4-FFF2-40B4-BE49-F238E27FC236}">
                <a16:creationId xmlns:a16="http://schemas.microsoft.com/office/drawing/2014/main" id="{67FE9073-3146-44F5-9B49-08DD646ED45E}"/>
              </a:ext>
            </a:extLst>
          </p:cNvPr>
          <p:cNvSpPr>
            <a:spLocks xmlns:a="http://schemas.openxmlformats.org/drawingml/2006/main" noGrp="1"/>
          </p:cNvSpPr>
          <p:nvPr/>
        </p:nvSpPr>
        <p:spPr>
          <a:xfrm xmlns:a="http://schemas.openxmlformats.org/drawingml/2006/main">
            <a:off x="1514475" y="3829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20252B"/>
                </a:solidFill>
                <a:latin typeface="Arial"/>
                <a:ea typeface="Arial"/>
                <a:cs typeface="Arial"/>
              </a:defRPr>
            </a:pPr>
            <a:r>
              <a:rPr sz="2175" b="1">
                <a:solidFill>
                  <a:srgbClr val="20252B"/>
                </a:solidFill>
                <a:latin typeface="Arial"/>
                <a:ea typeface="Arial"/>
                <a:cs typeface="Arial"/>
              </a:rPr>
              <a:t>Complete the service</a:t>
            </a:r>
          </a:p>
        </p:txBody>
      </p:sp>
      <p:sp>
        <p:nvSpPr>
          <p:cNvPr id="11" name="Release the available cash&#10;or confirm the wallet t">
            <a:extLst xmlns:a="http://schemas.openxmlformats.org/drawingml/2006/main">
              <a:ext uri="{FF2B5EF4-FFF2-40B4-BE49-F238E27FC236}">
                <a16:creationId xmlns:a16="http://schemas.microsoft.com/office/drawing/2014/main" id="{4D579D65-7A02-4179-BB32-08DCDEC004A4}"/>
              </a:ext>
            </a:extLst>
          </p:cNvPr>
          <p:cNvSpPr>
            <a:spLocks xmlns:a="http://schemas.openxmlformats.org/drawingml/2006/main" noGrp="1"/>
          </p:cNvSpPr>
          <p:nvPr/>
        </p:nvSpPr>
        <p:spPr>
          <a:xfrm xmlns:a="http://schemas.openxmlformats.org/drawingml/2006/main">
            <a:off x="1514475" y="4448175"/>
            <a:ext cx="438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Release the available cash</a:t>
            </a:r>
          </a:p>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or confirm the wallet transfer</a:t>
            </a:r>
          </a:p>
        </p:txBody>
      </p:sp>
      <p:sp>
        <p:nvSpPr>
          <p:cNvPr id="12" name="04">
            <a:extLst xmlns:a="http://schemas.openxmlformats.org/drawingml/2006/main">
              <a:ext uri="{FF2B5EF4-FFF2-40B4-BE49-F238E27FC236}">
                <a16:creationId xmlns:a16="http://schemas.microsoft.com/office/drawing/2014/main" id="{D8EE0D1F-F673-4059-A229-EAEE4E01399C}"/>
              </a:ext>
            </a:extLst>
          </p:cNvPr>
          <p:cNvSpPr>
            <a:spLocks xmlns:a="http://schemas.openxmlformats.org/drawingml/2006/main" noGrp="1"/>
          </p:cNvSpPr>
          <p:nvPr/>
        </p:nvSpPr>
        <p:spPr>
          <a:xfrm xmlns:a="http://schemas.openxmlformats.org/drawingml/2006/main">
            <a:off x="6619875" y="38290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C2410C"/>
                </a:solidFill>
                <a:latin typeface="Arial"/>
                <a:ea typeface="Arial"/>
                <a:cs typeface="Arial"/>
              </a:defRPr>
            </a:pPr>
            <a:r>
              <a:rPr sz="3000" b="1">
                <a:solidFill>
                  <a:srgbClr val="C2410C"/>
                </a:solidFill>
                <a:latin typeface="Arial"/>
                <a:ea typeface="Arial"/>
                <a:cs typeface="Arial"/>
              </a:rPr>
              <a:t>04</a:t>
            </a:r>
          </a:p>
        </p:txBody>
      </p:sp>
      <p:sp>
        <p:nvSpPr>
          <p:cNvPr id="13" name="Keep a reference">
            <a:extLst xmlns:a="http://schemas.openxmlformats.org/drawingml/2006/main">
              <a:ext uri="{FF2B5EF4-FFF2-40B4-BE49-F238E27FC236}">
                <a16:creationId xmlns:a16="http://schemas.microsoft.com/office/drawing/2014/main" id="{F35FB9DB-97BB-43E2-8A0D-712BEC45B35A}"/>
              </a:ext>
            </a:extLst>
          </p:cNvPr>
          <p:cNvSpPr>
            <a:spLocks xmlns:a="http://schemas.openxmlformats.org/drawingml/2006/main" noGrp="1"/>
          </p:cNvSpPr>
          <p:nvPr/>
        </p:nvSpPr>
        <p:spPr>
          <a:xfrm xmlns:a="http://schemas.openxmlformats.org/drawingml/2006/main">
            <a:off x="7524750" y="3829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20252B"/>
                </a:solidFill>
                <a:latin typeface="Arial"/>
                <a:ea typeface="Arial"/>
                <a:cs typeface="Arial"/>
              </a:defRPr>
            </a:pPr>
            <a:r>
              <a:rPr sz="2175" b="1">
                <a:solidFill>
                  <a:srgbClr val="20252B"/>
                </a:solidFill>
                <a:latin typeface="Arial"/>
                <a:ea typeface="Arial"/>
                <a:cs typeface="Arial"/>
              </a:rPr>
              <a:t>Keep a reference</a:t>
            </a:r>
          </a:p>
        </p:txBody>
      </p:sp>
      <p:sp>
        <p:nvSpPr>
          <p:cNvPr id="14" name="Receipt or claim reference&#10;when funds remain owed">
            <a:extLst xmlns:a="http://schemas.openxmlformats.org/drawingml/2006/main">
              <a:ext uri="{FF2B5EF4-FFF2-40B4-BE49-F238E27FC236}">
                <a16:creationId xmlns:a16="http://schemas.microsoft.com/office/drawing/2014/main" id="{819860CD-1B53-40B0-B746-59645E35D500}"/>
              </a:ext>
            </a:extLst>
          </p:cNvPr>
          <p:cNvSpPr>
            <a:spLocks xmlns:a="http://schemas.openxmlformats.org/drawingml/2006/main" noGrp="1"/>
          </p:cNvSpPr>
          <p:nvPr/>
        </p:nvSpPr>
        <p:spPr>
          <a:xfrm xmlns:a="http://schemas.openxmlformats.org/drawingml/2006/main">
            <a:off x="7524750" y="4448175"/>
            <a:ext cx="438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Receipt or claim reference</a:t>
            </a:r>
          </a:p>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when funds remain owed</a:t>
            </a:r>
          </a:p>
        </p:txBody>
      </p:sp>
      <p:sp>
        <p:nvSpPr>
          <p:cNvPr id="15" name="Intended experience. End-to-end physical reliabili">
            <a:extLst xmlns:a="http://schemas.openxmlformats.org/drawingml/2006/main">
              <a:ext uri="{FF2B5EF4-FFF2-40B4-BE49-F238E27FC236}">
                <a16:creationId xmlns:a16="http://schemas.microsoft.com/office/drawing/2014/main" id="{95062405-5493-4F79-B0C1-D005D7A5656D}"/>
              </a:ext>
            </a:extLst>
          </p:cNvPr>
          <p:cNvSpPr>
            <a:spLocks xmlns:a="http://schemas.openxmlformats.org/drawingml/2006/main" noGrp="1"/>
          </p:cNvSpPr>
          <p:nvPr/>
        </p:nvSpPr>
        <p:spPr>
          <a:xfrm xmlns:a="http://schemas.openxmlformats.org/drawingml/2006/main">
            <a:off x="609600" y="585787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2676D"/>
                </a:solidFill>
                <a:latin typeface="Arial"/>
                <a:ea typeface="Arial"/>
                <a:cs typeface="Arial"/>
              </a:defRPr>
            </a:pPr>
            <a:r>
              <a:rPr sz="1425" b="0">
                <a:solidFill>
                  <a:srgbClr val="62676D"/>
                </a:solidFill>
                <a:latin typeface="Arial"/>
                <a:ea typeface="Arial"/>
                <a:cs typeface="Arial"/>
              </a:rPr>
              <a:t>Intended experience. End-to-end physical reliability still requires validation.</a:t>
            </a:r>
          </a:p>
        </p:txBody>
      </p:sp>
    </p:spTree>
    <p:extLst>
      <p:ext uri="{BB962C8B-B14F-4D97-AF65-F5344CB8AC3E}">
        <p14:creationId xmlns:p14="http://schemas.microsoft.com/office/powerpoint/2010/main" val="10610265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rototype progress and evidence gaps">
            <a:extLst xmlns:a="http://schemas.openxmlformats.org/drawingml/2006/main">
              <a:ext uri="{FF2B5EF4-FFF2-40B4-BE49-F238E27FC236}">
                <a16:creationId xmlns:a16="http://schemas.microsoft.com/office/drawing/2014/main" id="{E0860FC3-A30E-4D06-9F4A-8781AD05F37D}"/>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20252B"/>
                </a:solidFill>
                <a:latin typeface="Arial"/>
                <a:ea typeface="Arial"/>
                <a:cs typeface="Arial"/>
              </a:defRPr>
            </a:pPr>
            <a:r>
              <a:rPr sz="3300" b="1">
                <a:solidFill>
                  <a:srgbClr val="20252B"/>
                </a:solidFill>
                <a:latin typeface="Arial"/>
                <a:ea typeface="Arial"/>
                <a:cs typeface="Arial"/>
              </a:rPr>
              <a:t>Prototype progress and evidence gaps</a:t>
            </a:r>
          </a:p>
        </p:txBody>
      </p:sp>
      <p:sp>
        <p:nvSpPr>
          <p:cNvPr id="2" name="06">
            <a:extLst xmlns:a="http://schemas.openxmlformats.org/drawingml/2006/main">
              <a:ext uri="{FF2B5EF4-FFF2-40B4-BE49-F238E27FC236}">
                <a16:creationId xmlns:a16="http://schemas.microsoft.com/office/drawing/2014/main" id="{03BCE471-453D-4D5E-82A5-7B5206B5A5B3}"/>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2676D"/>
                </a:solidFill>
                <a:latin typeface="Arial"/>
                <a:ea typeface="Arial"/>
                <a:cs typeface="Arial"/>
              </a:defRPr>
            </a:pPr>
            <a:r>
              <a:rPr sz="1200" b="0">
                <a:solidFill>
                  <a:srgbClr val="62676D"/>
                </a:solidFill>
                <a:latin typeface="Arial"/>
                <a:ea typeface="Arial"/>
                <a:cs typeface="Arial"/>
              </a:rPr>
              <a:t>06</a:t>
            </a:r>
          </a:p>
        </p:txBody>
      </p:sp>
      <p:graphicFrame>
        <p:nvGraphicFramePr>
          <p:cNvPr id="7" name=""/>
          <p:cNvGraphicFramePr/>
          <p:nvPr/>
        </p:nvGraphicFramePr>
        <p:xfrm>
          <a:off xmlns:a="http://schemas.openxmlformats.org/drawingml/2006/main" x="609600" y="1714500"/>
          <a:ext xmlns:a="http://schemas.openxmlformats.org/drawingml/2006/main" cx="10972800" cy="3638550"/>
        </p:xfrm>
        <a:graphic xmlns:a="http://schemas.openxmlformats.org/drawingml/2006/main">
          <a:graphicData uri="http://schemas.openxmlformats.org/drawingml/2006/table">
            <a:tbl>
              <a:tblPr/>
              <a:tblGrid>
                <a:gridCol w="5476875"/>
                <a:gridCol w="5495925"/>
              </a:tblGrid>
              <a:tr h="909638">
                <a:tc>
                  <a:txBody>
                    <a:bodyPr/>
                    <a:lstStyle/>
                    <a:p>
                      <a:r>
                        <a:rPr sz="1875" b="1">
                          <a:solidFill>
                            <a:srgbClr val="FFFFFF"/>
                          </a:solidFill>
                          <a:latin typeface="Arial"/>
                          <a:ea typeface="Arial"/>
                          <a:cs typeface="Arial"/>
                        </a:rPr>
                        <a:t>Present in the project</a:t>
                      </a:r>
                    </a:p>
                  </a:txBody>
                  <a:tcPr marL="152400" marR="152400" marT="123825" marB="123825" anchor="ctr">
                    <a:solidFill>
                      <a:srgbClr val="20252B"/>
                    </a:solidFill>
                  </a:tcPr>
                </a:tc>
                <a:tc>
                  <a:txBody>
                    <a:bodyPr/>
                    <a:lstStyle/>
                    <a:p>
                      <a:r>
                        <a:rPr sz="1875" b="1">
                          <a:solidFill>
                            <a:srgbClr val="FFFFFF"/>
                          </a:solidFill>
                          <a:latin typeface="Arial"/>
                          <a:ea typeface="Arial"/>
                          <a:cs typeface="Arial"/>
                        </a:rPr>
                        <a:t>Still to validate physically</a:t>
                      </a:r>
                    </a:p>
                  </a:txBody>
                  <a:tcPr marL="152400" marR="152400" marT="123825" marB="123825" anchor="ctr">
                    <a:solidFill>
                      <a:srgbClr val="20252B"/>
                    </a:solidFill>
                  </a:tcPr>
                </a:tc>
              </a:tr>
              <a:tr h="909638">
                <a:tc>
                  <a:txBody>
                    <a:bodyPr/>
                    <a:lstStyle/>
                    <a:p>
                      <a:r>
                        <a:rPr sz="1875" b="0">
                          <a:solidFill>
                            <a:srgbClr val="20252B"/>
                          </a:solidFill>
                          <a:latin typeface="Arial"/>
                          <a:ea typeface="Arial"/>
                          <a:cs typeface="Arial"/>
                        </a:rPr>
                        <a:t>Touchscreen flows, backend, and firmware</a:t>
                      </a:r>
                    </a:p>
                  </a:txBody>
                  <a:tcPr marL="152400" marR="152400" marT="123825" marB="123825" anchor="ctr">
                    <a:solidFill>
                      <a:srgbClr val="F4F5F6"/>
                    </a:solidFill>
                  </a:tcPr>
                </a:tc>
                <a:tc>
                  <a:txBody>
                    <a:bodyPr/>
                    <a:lstStyle/>
                    <a:p>
                      <a:r>
                        <a:rPr sz="1875" b="0">
                          <a:solidFill>
                            <a:srgbClr val="20252B"/>
                          </a:solidFill>
                          <a:latin typeface="Arial"/>
                          <a:ea typeface="Arial"/>
                          <a:cs typeface="Arial"/>
                        </a:rPr>
                        <a:t>Repeatable transactions on the assembled kiosk</a:t>
                      </a:r>
                    </a:p>
                  </a:txBody>
                  <a:tcPr marL="152400" marR="152400" marT="123825" marB="123825" anchor="ctr">
                    <a:solidFill>
                      <a:srgbClr val="F4F5F6"/>
                    </a:solidFill>
                  </a:tcPr>
                </a:tc>
              </a:tr>
              <a:tr h="909638">
                <a:tc>
                  <a:txBody>
                    <a:bodyPr/>
                    <a:lstStyle/>
                    <a:p>
                      <a:r>
                        <a:rPr sz="1875" b="0">
                          <a:solidFill>
                            <a:srgbClr val="20252B"/>
                          </a:solidFill>
                          <a:latin typeface="Arial"/>
                          <a:ea typeface="Arial"/>
                          <a:cs typeface="Arial"/>
                        </a:rPr>
                        <a:t>Inventory, transaction, and claim logic</a:t>
                      </a:r>
                    </a:p>
                  </a:txBody>
                  <a:tcPr marL="152400" marR="152400" marT="123825" marB="123825" anchor="ctr">
                    <a:solidFill>
                      <a:srgbClr val="FFFFFF"/>
                    </a:solidFill>
                  </a:tcPr>
                </a:tc>
                <a:tc>
                  <a:txBody>
                    <a:bodyPr/>
                    <a:lstStyle/>
                    <a:p>
                      <a:r>
                        <a:rPr sz="1875" b="0">
                          <a:solidFill>
                            <a:srgbClr val="20252B"/>
                          </a:solidFill>
                          <a:latin typeface="Arial"/>
                          <a:ea typeface="Arial"/>
                          <a:cs typeface="Arial"/>
                        </a:rPr>
                        <a:t>Jams, partial payout, and recovery after power loss</a:t>
                      </a:r>
                    </a:p>
                  </a:txBody>
                  <a:tcPr marL="152400" marR="152400" marT="123825" marB="123825" anchor="ctr">
                    <a:solidFill>
                      <a:srgbClr val="FFFFFF"/>
                    </a:solidFill>
                  </a:tcPr>
                </a:tc>
              </a:tr>
              <a:tr h="909638">
                <a:tc>
                  <a:txBody>
                    <a:bodyPr/>
                    <a:lstStyle/>
                    <a:p>
                      <a:r>
                        <a:rPr sz="1875" b="0">
                          <a:solidFill>
                            <a:srgbClr val="20252B"/>
                          </a:solidFill>
                          <a:latin typeface="Arial"/>
                          <a:ea typeface="Arial"/>
                          <a:cs typeface="Arial"/>
                        </a:rPr>
                        <a:t>Camera checks and tamper-control design</a:t>
                      </a:r>
                    </a:p>
                  </a:txBody>
                  <a:tcPr marL="152400" marR="152400" marT="123825" marB="123825" anchor="ctr">
                    <a:solidFill>
                      <a:srgbClr val="F4F5F6"/>
                    </a:solidFill>
                  </a:tcPr>
                </a:tc>
                <a:tc>
                  <a:txBody>
                    <a:bodyPr/>
                    <a:lstStyle/>
                    <a:p>
                      <a:r>
                        <a:rPr sz="1875" b="0">
                          <a:solidFill>
                            <a:srgbClr val="20252B"/>
                          </a:solidFill>
                          <a:latin typeface="Arial"/>
                          <a:ea typeface="Arial"/>
                          <a:cs typeface="Arial"/>
                        </a:rPr>
                        <a:t>Measured recognition and security performance</a:t>
                      </a:r>
                    </a:p>
                  </a:txBody>
                  <a:tcPr marL="152400" marR="152400" marT="123825" marB="123825" anchor="ctr">
                    <a:solidFill>
                      <a:srgbClr val="F4F5F6"/>
                    </a:solidFill>
                  </a:tcPr>
                </a:tc>
              </a:tr>
            </a:tbl>
          </a:graphicData>
        </a:graphic>
      </p:graphicFrame>
      <p:sp>
        <p:nvSpPr>
          <p:cNvPr id="4" name="Team-confirmed stage: partial physical prototype. ">
            <a:extLst xmlns:a="http://schemas.openxmlformats.org/drawingml/2006/main">
              <a:ext uri="{FF2B5EF4-FFF2-40B4-BE49-F238E27FC236}">
                <a16:creationId xmlns:a16="http://schemas.microsoft.com/office/drawing/2014/main" id="{6D1396EB-7753-4489-A9B0-02854EF85E53}"/>
              </a:ext>
            </a:extLst>
          </p:cNvPr>
          <p:cNvSpPr>
            <a:spLocks xmlns:a="http://schemas.openxmlformats.org/drawingml/2006/main" noGrp="1"/>
          </p:cNvSpPr>
          <p:nvPr/>
        </p:nvSpPr>
        <p:spPr>
          <a:xfrm xmlns:a="http://schemas.openxmlformats.org/drawingml/2006/main">
            <a:off x="609600" y="585787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2676D"/>
                </a:solidFill>
                <a:latin typeface="Arial"/>
                <a:ea typeface="Arial"/>
                <a:cs typeface="Arial"/>
              </a:defRPr>
            </a:pPr>
            <a:r>
              <a:rPr sz="1425" b="0">
                <a:solidFill>
                  <a:srgbClr val="62676D"/>
                </a:solidFill>
                <a:latin typeface="Arial"/>
                <a:ea typeface="Arial"/>
                <a:cs typeface="Arial"/>
              </a:rPr>
              <a:t>Team-confirmed stage: partial physical prototype. No accuracy or field-reliability result is claimed.</a:t>
            </a:r>
          </a:p>
        </p:txBody>
      </p:sp>
    </p:spTree>
    <p:extLst>
      <p:ext uri="{BB962C8B-B14F-4D97-AF65-F5344CB8AC3E}">
        <p14:creationId xmlns:p14="http://schemas.microsoft.com/office/powerpoint/2010/main" val="1033203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Alternatives and proposed differentiation">
            <a:extLst xmlns:a="http://schemas.openxmlformats.org/drawingml/2006/main">
              <a:ext uri="{FF2B5EF4-FFF2-40B4-BE49-F238E27FC236}">
                <a16:creationId xmlns:a16="http://schemas.microsoft.com/office/drawing/2014/main" id="{602484A3-5756-413C-86F2-49C6FC8D78D5}"/>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20252B"/>
                </a:solidFill>
                <a:latin typeface="Arial"/>
                <a:ea typeface="Arial"/>
                <a:cs typeface="Arial"/>
              </a:defRPr>
            </a:pPr>
            <a:r>
              <a:rPr sz="3300" b="1">
                <a:solidFill>
                  <a:srgbClr val="20252B"/>
                </a:solidFill>
                <a:latin typeface="Arial"/>
                <a:ea typeface="Arial"/>
                <a:cs typeface="Arial"/>
              </a:rPr>
              <a:t>Alternatives and proposed differentiation</a:t>
            </a:r>
          </a:p>
        </p:txBody>
      </p:sp>
      <p:sp>
        <p:nvSpPr>
          <p:cNvPr id="2" name="07">
            <a:extLst xmlns:a="http://schemas.openxmlformats.org/drawingml/2006/main">
              <a:ext uri="{FF2B5EF4-FFF2-40B4-BE49-F238E27FC236}">
                <a16:creationId xmlns:a16="http://schemas.microsoft.com/office/drawing/2014/main" id="{31C5C7AE-AACA-4BB6-9C74-42460657C60C}"/>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2676D"/>
                </a:solidFill>
                <a:latin typeface="Arial"/>
                <a:ea typeface="Arial"/>
                <a:cs typeface="Arial"/>
              </a:defRPr>
            </a:pPr>
            <a:r>
              <a:rPr sz="1200" b="0">
                <a:solidFill>
                  <a:srgbClr val="62676D"/>
                </a:solidFill>
                <a:latin typeface="Arial"/>
                <a:ea typeface="Arial"/>
                <a:cs typeface="Arial"/>
              </a:rPr>
              <a:t>07</a:t>
            </a:r>
          </a:p>
        </p:txBody>
      </p:sp>
      <p:graphicFrame>
        <p:nvGraphicFramePr>
          <p:cNvPr id="7" name=""/>
          <p:cNvGraphicFramePr/>
          <p:nvPr/>
        </p:nvGraphicFramePr>
        <p:xfrm>
          <a:off xmlns:a="http://schemas.openxmlformats.org/drawingml/2006/main" x="609600" y="1714500"/>
          <a:ext xmlns:a="http://schemas.openxmlformats.org/drawingml/2006/main" cx="10972800" cy="3429000"/>
        </p:xfrm>
        <a:graphic xmlns:a="http://schemas.openxmlformats.org/drawingml/2006/main">
          <a:graphicData uri="http://schemas.openxmlformats.org/drawingml/2006/table">
            <a:tbl>
              <a:tblPr/>
              <a:tblGrid>
                <a:gridCol w="4953000"/>
                <a:gridCol w="6019800"/>
              </a:tblGrid>
              <a:tr h="857250">
                <a:tc>
                  <a:txBody>
                    <a:bodyPr/>
                    <a:lstStyle/>
                    <a:p>
                      <a:r>
                        <a:rPr sz="1950" b="1">
                          <a:solidFill>
                            <a:srgbClr val="FFFFFF"/>
                          </a:solidFill>
                          <a:latin typeface="Arial"/>
                          <a:ea typeface="Arial"/>
                          <a:cs typeface="Arial"/>
                        </a:rPr>
                        <a:t>Alternative to investigate</a:t>
                      </a:r>
                    </a:p>
                  </a:txBody>
                  <a:tcPr marL="152400" marR="152400" marT="123825" marB="123825" anchor="ctr">
                    <a:solidFill>
                      <a:srgbClr val="20252B"/>
                    </a:solidFill>
                  </a:tcPr>
                </a:tc>
                <a:tc>
                  <a:txBody>
                    <a:bodyPr/>
                    <a:lstStyle/>
                    <a:p>
                      <a:r>
                        <a:rPr sz="1950" b="1">
                          <a:solidFill>
                            <a:srgbClr val="FFFFFF"/>
                          </a:solidFill>
                          <a:latin typeface="Arial"/>
                          <a:ea typeface="Arial"/>
                          <a:cs typeface="Arial"/>
                        </a:rPr>
                        <a:t>Coinnect hypothesis to test</a:t>
                      </a:r>
                    </a:p>
                  </a:txBody>
                  <a:tcPr marL="152400" marR="152400" marT="123825" marB="123825" anchor="ctr">
                    <a:solidFill>
                      <a:srgbClr val="20252B"/>
                    </a:solidFill>
                  </a:tcPr>
                </a:tc>
              </a:tr>
              <a:tr h="857250">
                <a:tc>
                  <a:txBody>
                    <a:bodyPr/>
                    <a:lstStyle/>
                    <a:p>
                      <a:r>
                        <a:rPr sz="1950" b="0">
                          <a:solidFill>
                            <a:srgbClr val="20252B"/>
                          </a:solidFill>
                          <a:latin typeface="Arial"/>
                          <a:ea typeface="Arial"/>
                          <a:cs typeface="Arial"/>
                        </a:rPr>
                        <a:t>Cashier or acquaintance for change</a:t>
                      </a:r>
                    </a:p>
                  </a:txBody>
                  <a:tcPr marL="152400" marR="152400" marT="123825" marB="123825" anchor="ctr">
                    <a:solidFill>
                      <a:srgbClr val="F4F5F6"/>
                    </a:solidFill>
                  </a:tcPr>
                </a:tc>
                <a:tc>
                  <a:txBody>
                    <a:bodyPr/>
                    <a:lstStyle/>
                    <a:p>
                      <a:r>
                        <a:rPr sz="1950" b="0">
                          <a:solidFill>
                            <a:srgbClr val="20252B"/>
                          </a:solidFill>
                          <a:latin typeface="Arial"/>
                          <a:ea typeface="Arial"/>
                          <a:cs typeface="Arial"/>
                        </a:rPr>
                        <a:t>A dedicated place for denomination conversion</a:t>
                      </a:r>
                    </a:p>
                  </a:txBody>
                  <a:tcPr marL="152400" marR="152400" marT="123825" marB="123825" anchor="ctr">
                    <a:solidFill>
                      <a:srgbClr val="F4F5F6"/>
                    </a:solidFill>
                  </a:tcPr>
                </a:tc>
              </a:tr>
              <a:tr h="857250">
                <a:tc>
                  <a:txBody>
                    <a:bodyPr/>
                    <a:lstStyle/>
                    <a:p>
                      <a:r>
                        <a:rPr sz="1950" b="0">
                          <a:solidFill>
                            <a:srgbClr val="20252B"/>
                          </a:solidFill>
                          <a:latin typeface="Arial"/>
                          <a:ea typeface="Arial"/>
                          <a:cs typeface="Arial"/>
                        </a:rPr>
                        <a:t>Available cash-in or cash-out outlet</a:t>
                      </a:r>
                    </a:p>
                  </a:txBody>
                  <a:tcPr marL="152400" marR="152400" marT="123825" marB="123825" anchor="ctr">
                    <a:solidFill>
                      <a:srgbClr val="FFFFFF"/>
                    </a:solidFill>
                  </a:tcPr>
                </a:tc>
                <a:tc>
                  <a:txBody>
                    <a:bodyPr/>
                    <a:lstStyle/>
                    <a:p>
                      <a:r>
                        <a:rPr sz="1950" b="0">
                          <a:solidFill>
                            <a:srgbClr val="20252B"/>
                          </a:solidFill>
                          <a:latin typeface="Arial"/>
                          <a:ea typeface="Arial"/>
                          <a:cs typeface="Arial"/>
                        </a:rPr>
                        <a:t>A convenient campus location for wallet access</a:t>
                      </a:r>
                    </a:p>
                  </a:txBody>
                  <a:tcPr marL="152400" marR="152400" marT="123825" marB="123825" anchor="ctr">
                    <a:solidFill>
                      <a:srgbClr val="FFFFFF"/>
                    </a:solidFill>
                  </a:tcPr>
                </a:tc>
              </a:tr>
              <a:tr h="857250">
                <a:tc>
                  <a:txBody>
                    <a:bodyPr/>
                    <a:lstStyle/>
                    <a:p>
                      <a:r>
                        <a:rPr sz="1950" b="0">
                          <a:solidFill>
                            <a:srgbClr val="20252B"/>
                          </a:solidFill>
                          <a:latin typeface="Arial"/>
                          <a:ea typeface="Arial"/>
                          <a:cs typeface="Arial"/>
                        </a:rPr>
                        <a:t>Separate services for each task</a:t>
                      </a:r>
                    </a:p>
                  </a:txBody>
                  <a:tcPr marL="152400" marR="152400" marT="123825" marB="123825" anchor="ctr">
                    <a:solidFill>
                      <a:srgbClr val="F4F5F6"/>
                    </a:solidFill>
                  </a:tcPr>
                </a:tc>
                <a:tc>
                  <a:txBody>
                    <a:bodyPr/>
                    <a:lstStyle/>
                    <a:p>
                      <a:r>
                        <a:rPr sz="1950" b="0">
                          <a:solidFill>
                            <a:srgbClr val="20252B"/>
                          </a:solidFill>
                          <a:latin typeface="Arial"/>
                          <a:ea typeface="Arial"/>
                          <a:cs typeface="Arial"/>
                        </a:rPr>
                        <a:t>Combined access through one kiosk</a:t>
                      </a:r>
                    </a:p>
                  </a:txBody>
                  <a:tcPr marL="152400" marR="152400" marT="123825" marB="123825" anchor="ctr">
                    <a:solidFill>
                      <a:srgbClr val="F4F5F6"/>
                    </a:solidFill>
                  </a:tcPr>
                </a:tc>
              </a:tr>
            </a:tbl>
          </a:graphicData>
        </a:graphic>
      </p:graphicFrame>
      <p:sp>
        <p:nvSpPr>
          <p:cNvPr id="4" name="Local availability, fees, and convenience need com">
            <a:extLst xmlns:a="http://schemas.openxmlformats.org/drawingml/2006/main">
              <a:ext uri="{FF2B5EF4-FFF2-40B4-BE49-F238E27FC236}">
                <a16:creationId xmlns:a16="http://schemas.microsoft.com/office/drawing/2014/main" id="{DE6A4B0C-8429-4AB6-A60B-64D07F14075B}"/>
              </a:ext>
            </a:extLst>
          </p:cNvPr>
          <p:cNvSpPr>
            <a:spLocks xmlns:a="http://schemas.openxmlformats.org/drawingml/2006/main" noGrp="1"/>
          </p:cNvSpPr>
          <p:nvPr/>
        </p:nvSpPr>
        <p:spPr>
          <a:xfrm xmlns:a="http://schemas.openxmlformats.org/drawingml/2006/main">
            <a:off x="609600" y="585787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2676D"/>
                </a:solidFill>
                <a:latin typeface="Arial"/>
                <a:ea typeface="Arial"/>
                <a:cs typeface="Arial"/>
              </a:defRPr>
            </a:pPr>
            <a:r>
              <a:rPr sz="1425" b="0">
                <a:solidFill>
                  <a:srgbClr val="62676D"/>
                </a:solidFill>
                <a:latin typeface="Arial"/>
                <a:ea typeface="Arial"/>
                <a:cs typeface="Arial"/>
              </a:rPr>
              <a:t>Local availability, fees, and convenience need comparison. No exclusive technology advantage is claimed.</a:t>
            </a:r>
          </a:p>
        </p:txBody>
      </p:sp>
    </p:spTree>
    <p:extLst>
      <p:ext uri="{BB962C8B-B14F-4D97-AF65-F5344CB8AC3E}">
        <p14:creationId xmlns:p14="http://schemas.microsoft.com/office/powerpoint/2010/main" val="368846681"/>
      </p:ext>
    </p:extLst>
  </p:cSld>
</p:sld>
</file>

<file path=ppt/slides/slide8.xml><?xml version="1.0" encoding="utf-8"?>
<p:sld xmlns:p="http://schemas.openxmlformats.org/presentationml/2006/main">
  <p:cSld>
    <p:bg>
      <p:bgPr>
        <a:solidFill xmlns:a="http://schemas.openxmlformats.org/drawingml/2006/main">
          <a:srgbClr val="20252B"/>
        </a:solidFill>
      </p:bgPr>
    </p:bg>
    <p:spTree>
      <p:nvGrpSpPr>
        <p:cNvPr id="1" name=""/>
        <p:cNvGrpSpPr/>
        <p:nvPr/>
      </p:nvGrpSpPr>
      <p:grpSpPr>
        <a:xfrm xmlns:a="http://schemas.openxmlformats.org/drawingml/2006/main"/>
      </p:grpSpPr>
      <p:sp>
        <p:nvSpPr>
          <p:cNvPr id="9" name="Transaction-fee business model">
            <a:extLst xmlns:a="http://schemas.openxmlformats.org/drawingml/2006/main">
              <a:ext uri="{FF2B5EF4-FFF2-40B4-BE49-F238E27FC236}">
                <a16:creationId xmlns:a16="http://schemas.microsoft.com/office/drawing/2014/main" id="{888E3A81-898D-4DB5-A110-D2E0B6C19CCF}"/>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Transaction-fee business model</a:t>
            </a:r>
          </a:p>
        </p:txBody>
      </p:sp>
      <p:sp>
        <p:nvSpPr>
          <p:cNvPr id="2" name="08">
            <a:extLst xmlns:a="http://schemas.openxmlformats.org/drawingml/2006/main">
              <a:ext uri="{FF2B5EF4-FFF2-40B4-BE49-F238E27FC236}">
                <a16:creationId xmlns:a16="http://schemas.microsoft.com/office/drawing/2014/main" id="{FF5417ED-952E-4DB8-8475-C1EE6468A448}"/>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B5BAC0"/>
                </a:solidFill>
                <a:latin typeface="Arial"/>
                <a:ea typeface="Arial"/>
                <a:cs typeface="Arial"/>
              </a:defRPr>
            </a:pPr>
            <a:r>
              <a:rPr sz="1200" b="0">
                <a:solidFill>
                  <a:srgbClr val="B5BAC0"/>
                </a:solidFill>
                <a:latin typeface="Arial"/>
                <a:ea typeface="Arial"/>
                <a:cs typeface="Arial"/>
              </a:rPr>
              <a:t>08</a:t>
            </a:r>
          </a:p>
        </p:txBody>
      </p:sp>
      <p:sp>
        <p:nvSpPr>
          <p:cNvPr id="3" name="Completed transactions × service fee">
            <a:extLst xmlns:a="http://schemas.openxmlformats.org/drawingml/2006/main">
              <a:ext uri="{FF2B5EF4-FFF2-40B4-BE49-F238E27FC236}">
                <a16:creationId xmlns:a16="http://schemas.microsoft.com/office/drawing/2014/main" id="{5D2D6F1A-019B-413F-AAA2-D2DFAE48B2F5}"/>
              </a:ext>
            </a:extLst>
          </p:cNvPr>
          <p:cNvSpPr>
            <a:spLocks xmlns:a="http://schemas.openxmlformats.org/drawingml/2006/main" noGrp="1"/>
          </p:cNvSpPr>
          <p:nvPr/>
        </p:nvSpPr>
        <p:spPr>
          <a:xfrm xmlns:a="http://schemas.openxmlformats.org/drawingml/2006/main">
            <a:off x="609600" y="176212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Completed transactions × service fee</a:t>
            </a:r>
          </a:p>
        </p:txBody>
      </p:sp>
      <p:sp>
        <p:nvSpPr>
          <p:cNvPr id="4" name="Fee revenue">
            <a:extLst xmlns:a="http://schemas.openxmlformats.org/drawingml/2006/main">
              <a:ext uri="{FF2B5EF4-FFF2-40B4-BE49-F238E27FC236}">
                <a16:creationId xmlns:a16="http://schemas.microsoft.com/office/drawing/2014/main" id="{411A9A97-0C99-450F-A723-CD50DA691D3B}"/>
              </a:ext>
            </a:extLst>
          </p:cNvPr>
          <p:cNvSpPr>
            <a:spLocks xmlns:a="http://schemas.openxmlformats.org/drawingml/2006/main" noGrp="1"/>
          </p:cNvSpPr>
          <p:nvPr/>
        </p:nvSpPr>
        <p:spPr>
          <a:xfrm xmlns:a="http://schemas.openxmlformats.org/drawingml/2006/main">
            <a:off x="609600" y="2933700"/>
            <a:ext cx="4048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97316"/>
                </a:solidFill>
                <a:latin typeface="Arial"/>
                <a:ea typeface="Arial"/>
                <a:cs typeface="Arial"/>
              </a:defRPr>
            </a:pPr>
            <a:r>
              <a:rPr sz="2550" b="1">
                <a:solidFill>
                  <a:srgbClr val="F97316"/>
                </a:solidFill>
                <a:latin typeface="Arial"/>
                <a:ea typeface="Arial"/>
                <a:cs typeface="Arial"/>
              </a:rPr>
              <a:t>Fee revenue</a:t>
            </a:r>
          </a:p>
        </p:txBody>
      </p:sp>
      <p:sp>
        <p:nvSpPr>
          <p:cNvPr id="5" name="Less provider charges&#10;and direct transaction costs">
            <a:extLst xmlns:a="http://schemas.openxmlformats.org/drawingml/2006/main">
              <a:ext uri="{FF2B5EF4-FFF2-40B4-BE49-F238E27FC236}">
                <a16:creationId xmlns:a16="http://schemas.microsoft.com/office/drawing/2014/main" id="{4DC5E495-9396-4419-98B2-BC85C3302BA8}"/>
              </a:ext>
            </a:extLst>
          </p:cNvPr>
          <p:cNvSpPr>
            <a:spLocks xmlns:a="http://schemas.openxmlformats.org/drawingml/2006/main" noGrp="1"/>
          </p:cNvSpPr>
          <p:nvPr/>
        </p:nvSpPr>
        <p:spPr>
          <a:xfrm xmlns:a="http://schemas.openxmlformats.org/drawingml/2006/main">
            <a:off x="609600" y="3667125"/>
            <a:ext cx="4572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Less provider charges</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and direct transaction costs</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 contribution</a:t>
            </a:r>
          </a:p>
        </p:txBody>
      </p:sp>
      <p:sp>
        <p:nvSpPr>
          <p:cNvPr id="6" name="Operating requirements">
            <a:extLst xmlns:a="http://schemas.openxmlformats.org/drawingml/2006/main">
              <a:ext uri="{FF2B5EF4-FFF2-40B4-BE49-F238E27FC236}">
                <a16:creationId xmlns:a16="http://schemas.microsoft.com/office/drawing/2014/main" id="{2B282DB8-1C7C-4AC0-B686-E40BF8E2DC25}"/>
              </a:ext>
            </a:extLst>
          </p:cNvPr>
          <p:cNvSpPr>
            <a:spLocks xmlns:a="http://schemas.openxmlformats.org/drawingml/2006/main" noGrp="1"/>
          </p:cNvSpPr>
          <p:nvPr/>
        </p:nvSpPr>
        <p:spPr>
          <a:xfrm xmlns:a="http://schemas.openxmlformats.org/drawingml/2006/main">
            <a:off x="6286500" y="29337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97316"/>
                </a:solidFill>
                <a:latin typeface="Arial"/>
                <a:ea typeface="Arial"/>
                <a:cs typeface="Arial"/>
              </a:defRPr>
            </a:pPr>
            <a:r>
              <a:rPr sz="2400" b="1">
                <a:solidFill>
                  <a:srgbClr val="F97316"/>
                </a:solidFill>
                <a:latin typeface="Arial"/>
                <a:ea typeface="Arial"/>
                <a:cs typeface="Arial"/>
              </a:rPr>
              <a:t>Operating requirements</a:t>
            </a:r>
          </a:p>
        </p:txBody>
      </p:sp>
      <p:sp>
        <p:nvSpPr>
          <p:cNvPr id="7" name="Maintenance and cash servicing&#10;Site, power, connec">
            <a:extLst xmlns:a="http://schemas.openxmlformats.org/drawingml/2006/main">
              <a:ext uri="{FF2B5EF4-FFF2-40B4-BE49-F238E27FC236}">
                <a16:creationId xmlns:a16="http://schemas.microsoft.com/office/drawing/2014/main" id="{C637B0C8-7DC9-4E06-BC7E-41DFC4E47E43}"/>
              </a:ext>
            </a:extLst>
          </p:cNvPr>
          <p:cNvSpPr>
            <a:spLocks xmlns:a="http://schemas.openxmlformats.org/drawingml/2006/main" noGrp="1"/>
          </p:cNvSpPr>
          <p:nvPr/>
        </p:nvSpPr>
        <p:spPr>
          <a:xfrm xmlns:a="http://schemas.openxmlformats.org/drawingml/2006/main">
            <a:off x="6286500" y="3667125"/>
            <a:ext cx="51911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Maintenance and cash servicing</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Site, power, connectivity, and support</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Funded cash float and settlement needs</a:t>
            </a:r>
          </a:p>
        </p:txBody>
      </p:sp>
      <p:sp>
        <p:nvSpPr>
          <p:cNvPr id="8" name="Pricing and demand are unvalidated. Customer funds">
            <a:extLst xmlns:a="http://schemas.openxmlformats.org/drawingml/2006/main">
              <a:ext uri="{FF2B5EF4-FFF2-40B4-BE49-F238E27FC236}">
                <a16:creationId xmlns:a16="http://schemas.microsoft.com/office/drawing/2014/main" id="{83ADB507-4F7E-4936-854E-C2787EF35BCB}"/>
              </a:ext>
            </a:extLst>
          </p:cNvPr>
          <p:cNvSpPr>
            <a:spLocks xmlns:a="http://schemas.openxmlformats.org/drawingml/2006/main" noGrp="1"/>
          </p:cNvSpPr>
          <p:nvPr/>
        </p:nvSpPr>
        <p:spPr>
          <a:xfrm xmlns:a="http://schemas.openxmlformats.org/drawingml/2006/main">
            <a:off x="609600" y="585787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CCD0D4"/>
                </a:solidFill>
                <a:latin typeface="Arial"/>
                <a:ea typeface="Arial"/>
                <a:cs typeface="Arial"/>
              </a:defRPr>
            </a:pPr>
            <a:r>
              <a:rPr sz="1425" b="0">
                <a:solidFill>
                  <a:srgbClr val="CCD0D4"/>
                </a:solidFill>
                <a:latin typeface="Arial"/>
                <a:ea typeface="Arial"/>
                <a:cs typeface="Arial"/>
              </a:rPr>
              <a:t>Pricing and demand are unvalidated. Customer funds and cash float are not fee revenue.</a:t>
            </a:r>
          </a:p>
        </p:txBody>
      </p:sp>
    </p:spTree>
    <p:extLst>
      <p:ext uri="{BB962C8B-B14F-4D97-AF65-F5344CB8AC3E}">
        <p14:creationId xmlns:p14="http://schemas.microsoft.com/office/powerpoint/2010/main" val="11304088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Proposed supervised campus pilot">
            <a:extLst xmlns:a="http://schemas.openxmlformats.org/drawingml/2006/main">
              <a:ext uri="{FF2B5EF4-FFF2-40B4-BE49-F238E27FC236}">
                <a16:creationId xmlns:a16="http://schemas.microsoft.com/office/drawing/2014/main" id="{ECF7D4B3-1B9E-4A63-A095-6248A664B437}"/>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20252B"/>
                </a:solidFill>
                <a:latin typeface="Arial"/>
                <a:ea typeface="Arial"/>
                <a:cs typeface="Arial"/>
              </a:defRPr>
            </a:pPr>
            <a:r>
              <a:rPr sz="3300" b="1">
                <a:solidFill>
                  <a:srgbClr val="20252B"/>
                </a:solidFill>
                <a:latin typeface="Arial"/>
                <a:ea typeface="Arial"/>
                <a:cs typeface="Arial"/>
              </a:rPr>
              <a:t>Proposed supervised campus pilot</a:t>
            </a:r>
          </a:p>
        </p:txBody>
      </p:sp>
      <p:sp>
        <p:nvSpPr>
          <p:cNvPr id="2" name="09">
            <a:extLst xmlns:a="http://schemas.openxmlformats.org/drawingml/2006/main">
              <a:ext uri="{FF2B5EF4-FFF2-40B4-BE49-F238E27FC236}">
                <a16:creationId xmlns:a16="http://schemas.microsoft.com/office/drawing/2014/main" id="{37EB704E-B738-4B9F-A2EC-82B6D8430F19}"/>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2676D"/>
                </a:solidFill>
                <a:latin typeface="Arial"/>
                <a:ea typeface="Arial"/>
                <a:cs typeface="Arial"/>
              </a:defRPr>
            </a:pPr>
            <a:r>
              <a:rPr sz="1200" b="0">
                <a:solidFill>
                  <a:srgbClr val="62676D"/>
                </a:solidFill>
                <a:latin typeface="Arial"/>
                <a:ea typeface="Arial"/>
                <a:cs typeface="Arial"/>
              </a:rPr>
              <a:t>09</a:t>
            </a:r>
          </a:p>
        </p:txBody>
      </p:sp>
      <p:sp>
        <p:nvSpPr>
          <p:cNvPr id="3" name="01">
            <a:extLst xmlns:a="http://schemas.openxmlformats.org/drawingml/2006/main">
              <a:ext uri="{FF2B5EF4-FFF2-40B4-BE49-F238E27FC236}">
                <a16:creationId xmlns:a16="http://schemas.microsoft.com/office/drawing/2014/main" id="{7AE44812-CC34-4E8F-B8DC-364381F04B83}"/>
              </a:ext>
            </a:extLst>
          </p:cNvPr>
          <p:cNvSpPr>
            <a:spLocks xmlns:a="http://schemas.openxmlformats.org/drawingml/2006/main" noGrp="1"/>
          </p:cNvSpPr>
          <p:nvPr/>
        </p:nvSpPr>
        <p:spPr>
          <a:xfrm xmlns:a="http://schemas.openxmlformats.org/drawingml/2006/main">
            <a:off x="609600" y="1762125"/>
            <a:ext cx="800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C2410C"/>
                </a:solidFill>
                <a:latin typeface="Arial"/>
                <a:ea typeface="Arial"/>
                <a:cs typeface="Arial"/>
              </a:defRPr>
            </a:pPr>
            <a:r>
              <a:rPr sz="3000" b="1">
                <a:solidFill>
                  <a:srgbClr val="C2410C"/>
                </a:solidFill>
                <a:latin typeface="Arial"/>
                <a:ea typeface="Arial"/>
                <a:cs typeface="Arial"/>
              </a:rPr>
              <a:t>01</a:t>
            </a:r>
          </a:p>
        </p:txBody>
      </p:sp>
      <p:sp>
        <p:nvSpPr>
          <p:cNvPr id="4" name="Demand discovery">
            <a:extLst xmlns:a="http://schemas.openxmlformats.org/drawingml/2006/main">
              <a:ext uri="{FF2B5EF4-FFF2-40B4-BE49-F238E27FC236}">
                <a16:creationId xmlns:a16="http://schemas.microsoft.com/office/drawing/2014/main" id="{9789E3DF-B0E0-4199-8020-D31F66BBC53F}"/>
              </a:ext>
            </a:extLst>
          </p:cNvPr>
          <p:cNvSpPr>
            <a:spLocks xmlns:a="http://schemas.openxmlformats.org/drawingml/2006/main" noGrp="1"/>
          </p:cNvSpPr>
          <p:nvPr/>
        </p:nvSpPr>
        <p:spPr>
          <a:xfrm xmlns:a="http://schemas.openxmlformats.org/drawingml/2006/main">
            <a:off x="1676400" y="17621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0252B"/>
                </a:solidFill>
                <a:latin typeface="Arial"/>
                <a:ea typeface="Arial"/>
                <a:cs typeface="Arial"/>
              </a:defRPr>
            </a:pPr>
            <a:r>
              <a:rPr sz="2250" b="1">
                <a:solidFill>
                  <a:srgbClr val="20252B"/>
                </a:solidFill>
                <a:latin typeface="Arial"/>
                <a:ea typeface="Arial"/>
                <a:cs typeface="Arial"/>
              </a:rPr>
              <a:t>Demand discovery</a:t>
            </a:r>
          </a:p>
        </p:txBody>
      </p:sp>
      <p:sp>
        <p:nvSpPr>
          <p:cNvPr id="5" name="Interview students, staff, and merchants.&#10;Review e">
            <a:extLst xmlns:a="http://schemas.openxmlformats.org/drawingml/2006/main">
              <a:ext uri="{FF2B5EF4-FFF2-40B4-BE49-F238E27FC236}">
                <a16:creationId xmlns:a16="http://schemas.microsoft.com/office/drawing/2014/main" id="{3D282568-46F9-4304-9F82-D00E76F07DED}"/>
              </a:ext>
            </a:extLst>
          </p:cNvPr>
          <p:cNvSpPr>
            <a:spLocks xmlns:a="http://schemas.openxmlformats.org/drawingml/2006/main" noGrp="1"/>
          </p:cNvSpPr>
          <p:nvPr/>
        </p:nvSpPr>
        <p:spPr>
          <a:xfrm xmlns:a="http://schemas.openxmlformats.org/drawingml/2006/main">
            <a:off x="1676400" y="2247900"/>
            <a:ext cx="952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Interview students, staff, and merchants.</a:t>
            </a:r>
          </a:p>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Review existing service alternatives.</a:t>
            </a:r>
          </a:p>
        </p:txBody>
      </p:sp>
      <p:sp>
        <p:nvSpPr>
          <p:cNvPr id="6" name="02">
            <a:extLst xmlns:a="http://schemas.openxmlformats.org/drawingml/2006/main">
              <a:ext uri="{FF2B5EF4-FFF2-40B4-BE49-F238E27FC236}">
                <a16:creationId xmlns:a16="http://schemas.microsoft.com/office/drawing/2014/main" id="{C1B024B5-84B1-4299-A9EE-E1CEE1A6DB1C}"/>
              </a:ext>
            </a:extLst>
          </p:cNvPr>
          <p:cNvSpPr>
            <a:spLocks xmlns:a="http://schemas.openxmlformats.org/drawingml/2006/main" noGrp="1"/>
          </p:cNvSpPr>
          <p:nvPr/>
        </p:nvSpPr>
        <p:spPr>
          <a:xfrm xmlns:a="http://schemas.openxmlformats.org/drawingml/2006/main">
            <a:off x="609600" y="3000375"/>
            <a:ext cx="800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C2410C"/>
                </a:solidFill>
                <a:latin typeface="Arial"/>
                <a:ea typeface="Arial"/>
                <a:cs typeface="Arial"/>
              </a:defRPr>
            </a:pPr>
            <a:r>
              <a:rPr sz="3000" b="1">
                <a:solidFill>
                  <a:srgbClr val="C2410C"/>
                </a:solidFill>
                <a:latin typeface="Arial"/>
                <a:ea typeface="Arial"/>
                <a:cs typeface="Arial"/>
              </a:rPr>
              <a:t>02</a:t>
            </a:r>
          </a:p>
        </p:txBody>
      </p:sp>
      <p:sp>
        <p:nvSpPr>
          <p:cNvPr id="7" name="Kiosk readiness">
            <a:extLst xmlns:a="http://schemas.openxmlformats.org/drawingml/2006/main">
              <a:ext uri="{FF2B5EF4-FFF2-40B4-BE49-F238E27FC236}">
                <a16:creationId xmlns:a16="http://schemas.microsoft.com/office/drawing/2014/main" id="{094255E5-5F4F-42E3-BE68-07D121D8BA38}"/>
              </a:ext>
            </a:extLst>
          </p:cNvPr>
          <p:cNvSpPr>
            <a:spLocks xmlns:a="http://schemas.openxmlformats.org/drawingml/2006/main" noGrp="1"/>
          </p:cNvSpPr>
          <p:nvPr/>
        </p:nvSpPr>
        <p:spPr>
          <a:xfrm xmlns:a="http://schemas.openxmlformats.org/drawingml/2006/main">
            <a:off x="1676400" y="300037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0252B"/>
                </a:solidFill>
                <a:latin typeface="Arial"/>
                <a:ea typeface="Arial"/>
                <a:cs typeface="Arial"/>
              </a:defRPr>
            </a:pPr>
            <a:r>
              <a:rPr sz="2250" b="1">
                <a:solidFill>
                  <a:srgbClr val="20252B"/>
                </a:solidFill>
                <a:latin typeface="Arial"/>
                <a:ea typeface="Arial"/>
                <a:cs typeface="Arial"/>
              </a:rPr>
              <a:t>Kiosk readiness</a:t>
            </a:r>
          </a:p>
        </p:txBody>
      </p:sp>
      <p:sp>
        <p:nvSpPr>
          <p:cNvPr id="8" name="Verify cash conversion and failure recovery.&#10;Agree">
            <a:extLst xmlns:a="http://schemas.openxmlformats.org/drawingml/2006/main">
              <a:ext uri="{FF2B5EF4-FFF2-40B4-BE49-F238E27FC236}">
                <a16:creationId xmlns:a16="http://schemas.microsoft.com/office/drawing/2014/main" id="{882F8F71-C499-4940-B5D8-0BE14C436A3E}"/>
              </a:ext>
            </a:extLst>
          </p:cNvPr>
          <p:cNvSpPr>
            <a:spLocks xmlns:a="http://schemas.openxmlformats.org/drawingml/2006/main" noGrp="1"/>
          </p:cNvSpPr>
          <p:nvPr/>
        </p:nvSpPr>
        <p:spPr>
          <a:xfrm xmlns:a="http://schemas.openxmlformats.org/drawingml/2006/main">
            <a:off x="1676400" y="3486150"/>
            <a:ext cx="952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Verify cash conversion and failure recovery.</a:t>
            </a:r>
          </a:p>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Agree hosting, cash custody, and support.</a:t>
            </a:r>
          </a:p>
        </p:txBody>
      </p:sp>
      <p:sp>
        <p:nvSpPr>
          <p:cNvPr id="9" name="03">
            <a:extLst xmlns:a="http://schemas.openxmlformats.org/drawingml/2006/main">
              <a:ext uri="{FF2B5EF4-FFF2-40B4-BE49-F238E27FC236}">
                <a16:creationId xmlns:a16="http://schemas.microsoft.com/office/drawing/2014/main" id="{4D8A62A4-68FC-4B65-803B-9421B89EBFBB}"/>
              </a:ext>
            </a:extLst>
          </p:cNvPr>
          <p:cNvSpPr>
            <a:spLocks xmlns:a="http://schemas.openxmlformats.org/drawingml/2006/main" noGrp="1"/>
          </p:cNvSpPr>
          <p:nvPr/>
        </p:nvSpPr>
        <p:spPr>
          <a:xfrm xmlns:a="http://schemas.openxmlformats.org/drawingml/2006/main">
            <a:off x="609600" y="4238625"/>
            <a:ext cx="800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C2410C"/>
                </a:solidFill>
                <a:latin typeface="Arial"/>
                <a:ea typeface="Arial"/>
                <a:cs typeface="Arial"/>
              </a:defRPr>
            </a:pPr>
            <a:r>
              <a:rPr sz="3000" b="1">
                <a:solidFill>
                  <a:srgbClr val="C2410C"/>
                </a:solidFill>
                <a:latin typeface="Arial"/>
                <a:ea typeface="Arial"/>
                <a:cs typeface="Arial"/>
              </a:rPr>
              <a:t>03</a:t>
            </a:r>
          </a:p>
        </p:txBody>
      </p:sp>
      <p:sp>
        <p:nvSpPr>
          <p:cNvPr id="10" name="Supervised use">
            <a:extLst xmlns:a="http://schemas.openxmlformats.org/drawingml/2006/main">
              <a:ext uri="{FF2B5EF4-FFF2-40B4-BE49-F238E27FC236}">
                <a16:creationId xmlns:a16="http://schemas.microsoft.com/office/drawing/2014/main" id="{5AD52AB8-BF73-4D07-8443-3A09FC26769E}"/>
              </a:ext>
            </a:extLst>
          </p:cNvPr>
          <p:cNvSpPr>
            <a:spLocks xmlns:a="http://schemas.openxmlformats.org/drawingml/2006/main" noGrp="1"/>
          </p:cNvSpPr>
          <p:nvPr/>
        </p:nvSpPr>
        <p:spPr>
          <a:xfrm xmlns:a="http://schemas.openxmlformats.org/drawingml/2006/main">
            <a:off x="1676400" y="42386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0252B"/>
                </a:solidFill>
                <a:latin typeface="Arial"/>
                <a:ea typeface="Arial"/>
                <a:cs typeface="Arial"/>
              </a:defRPr>
            </a:pPr>
            <a:r>
              <a:rPr sz="2250" b="1">
                <a:solidFill>
                  <a:srgbClr val="20252B"/>
                </a:solidFill>
                <a:latin typeface="Arial"/>
                <a:ea typeface="Arial"/>
                <a:cs typeface="Arial"/>
              </a:rPr>
              <a:t>Supervised use</a:t>
            </a:r>
          </a:p>
        </p:txBody>
      </p:sp>
      <p:sp>
        <p:nvSpPr>
          <p:cNvPr id="11" name="Start with cash conversion.&#10;Review reliability, us">
            <a:extLst xmlns:a="http://schemas.openxmlformats.org/drawingml/2006/main">
              <a:ext uri="{FF2B5EF4-FFF2-40B4-BE49-F238E27FC236}">
                <a16:creationId xmlns:a16="http://schemas.microsoft.com/office/drawing/2014/main" id="{9B35A178-6219-449A-BA5D-C2C1189D1535}"/>
              </a:ext>
            </a:extLst>
          </p:cNvPr>
          <p:cNvSpPr>
            <a:spLocks xmlns:a="http://schemas.openxmlformats.org/drawingml/2006/main" noGrp="1"/>
          </p:cNvSpPr>
          <p:nvPr/>
        </p:nvSpPr>
        <p:spPr>
          <a:xfrm xmlns:a="http://schemas.openxmlformats.org/drawingml/2006/main">
            <a:off x="1676400" y="4724400"/>
            <a:ext cx="952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Start with cash conversion.</a:t>
            </a:r>
          </a:p>
          <a:p xmlns:a="http://schemas.openxmlformats.org/drawingml/2006/main">
            <a:pPr>
              <a:defRPr sz="1950" b="0">
                <a:solidFill>
                  <a:srgbClr val="20252B"/>
                </a:solidFill>
                <a:latin typeface="Arial"/>
                <a:ea typeface="Arial"/>
                <a:cs typeface="Arial"/>
              </a:defRPr>
            </a:pPr>
            <a:r>
              <a:rPr sz="1950" b="0">
                <a:solidFill>
                  <a:srgbClr val="20252B"/>
                </a:solidFill>
                <a:latin typeface="Arial"/>
                <a:ea typeface="Arial"/>
                <a:cs typeface="Arial"/>
              </a:rPr>
              <a:t>Review reliability, usage, fees, and cost.</a:t>
            </a:r>
          </a:p>
        </p:txBody>
      </p:sp>
      <p:sp>
        <p:nvSpPr>
          <p:cNvPr id="12" name="One approved indoor, climate-controlled location. ">
            <a:extLst xmlns:a="http://schemas.openxmlformats.org/drawingml/2006/main">
              <a:ext uri="{FF2B5EF4-FFF2-40B4-BE49-F238E27FC236}">
                <a16:creationId xmlns:a16="http://schemas.microsoft.com/office/drawing/2014/main" id="{2EA741AB-EF20-427A-90FA-BF0BD7F3299A}"/>
              </a:ext>
            </a:extLst>
          </p:cNvPr>
          <p:cNvSpPr>
            <a:spLocks xmlns:a="http://schemas.openxmlformats.org/drawingml/2006/main" noGrp="1"/>
          </p:cNvSpPr>
          <p:nvPr/>
        </p:nvSpPr>
        <p:spPr>
          <a:xfrm xmlns:a="http://schemas.openxmlformats.org/drawingml/2006/main">
            <a:off x="609600" y="585787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2676D"/>
                </a:solidFill>
                <a:latin typeface="Arial"/>
                <a:ea typeface="Arial"/>
                <a:cs typeface="Arial"/>
              </a:defRPr>
            </a:pPr>
            <a:r>
              <a:rPr sz="1425" b="0">
                <a:solidFill>
                  <a:srgbClr val="62676D"/>
                </a:solidFill>
                <a:latin typeface="Arial"/>
                <a:ea typeface="Arial"/>
                <a:cs typeface="Arial"/>
              </a:rPr>
              <a:t>One approved indoor, climate-controlled location. Wallet services require additional readiness.</a:t>
            </a:r>
          </a:p>
        </p:txBody>
      </p:sp>
    </p:spTree>
    <p:extLst>
      <p:ext uri="{BB962C8B-B14F-4D97-AF65-F5344CB8AC3E}">
        <p14:creationId xmlns:p14="http://schemas.microsoft.com/office/powerpoint/2010/main" val="4448252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ocial benefit and how to measure it">
            <a:extLst xmlns:a="http://schemas.openxmlformats.org/drawingml/2006/main">
              <a:ext uri="{FF2B5EF4-FFF2-40B4-BE49-F238E27FC236}">
                <a16:creationId xmlns:a16="http://schemas.microsoft.com/office/drawing/2014/main" id="{3363F994-1099-4699-8AA8-4DC95A6DFCAD}"/>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20252B"/>
                </a:solidFill>
                <a:latin typeface="Arial"/>
                <a:ea typeface="Arial"/>
                <a:cs typeface="Arial"/>
              </a:defRPr>
            </a:pPr>
            <a:r>
              <a:rPr sz="3300" b="1">
                <a:solidFill>
                  <a:srgbClr val="20252B"/>
                </a:solidFill>
                <a:latin typeface="Arial"/>
                <a:ea typeface="Arial"/>
                <a:cs typeface="Arial"/>
              </a:rPr>
              <a:t>Social benefit and how to measure it</a:t>
            </a:r>
          </a:p>
        </p:txBody>
      </p:sp>
      <p:sp>
        <p:nvSpPr>
          <p:cNvPr id="2" name="10">
            <a:extLst xmlns:a="http://schemas.openxmlformats.org/drawingml/2006/main">
              <a:ext uri="{FF2B5EF4-FFF2-40B4-BE49-F238E27FC236}">
                <a16:creationId xmlns:a16="http://schemas.microsoft.com/office/drawing/2014/main" id="{E6408C12-8E1A-44B9-BA3C-B9DCDA765ADA}"/>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2676D"/>
                </a:solidFill>
                <a:latin typeface="Arial"/>
                <a:ea typeface="Arial"/>
                <a:cs typeface="Arial"/>
              </a:defRPr>
            </a:pPr>
            <a:r>
              <a:rPr sz="1200" b="0">
                <a:solidFill>
                  <a:srgbClr val="62676D"/>
                </a:solidFill>
                <a:latin typeface="Arial"/>
                <a:ea typeface="Arial"/>
                <a:cs typeface="Arial"/>
              </a:rPr>
              <a:t>10</a:t>
            </a:r>
          </a:p>
        </p:txBody>
      </p:sp>
      <p:graphicFrame>
        <p:nvGraphicFramePr>
          <p:cNvPr id="7" name=""/>
          <p:cNvGraphicFramePr/>
          <p:nvPr/>
        </p:nvGraphicFramePr>
        <p:xfrm>
          <a:off xmlns:a="http://schemas.openxmlformats.org/drawingml/2006/main" x="609600" y="1714500"/>
          <a:ext xmlns:a="http://schemas.openxmlformats.org/drawingml/2006/main" cx="10972800" cy="3429000"/>
        </p:xfrm>
        <a:graphic xmlns:a="http://schemas.openxmlformats.org/drawingml/2006/main">
          <a:graphicData uri="http://schemas.openxmlformats.org/drawingml/2006/table">
            <a:tbl>
              <a:tblPr/>
              <a:tblGrid>
                <a:gridCol w="5095875"/>
                <a:gridCol w="5876925"/>
              </a:tblGrid>
              <a:tr h="857250">
                <a:tc>
                  <a:txBody>
                    <a:bodyPr/>
                    <a:lstStyle/>
                    <a:p>
                      <a:r>
                        <a:rPr sz="1875" b="1">
                          <a:solidFill>
                            <a:srgbClr val="FFFFFF"/>
                          </a:solidFill>
                          <a:latin typeface="Arial"/>
                          <a:ea typeface="Arial"/>
                          <a:cs typeface="Arial"/>
                        </a:rPr>
                        <a:t>Intended benefit</a:t>
                      </a:r>
                    </a:p>
                  </a:txBody>
                  <a:tcPr marL="152400" marR="152400" marT="123825" marB="123825" anchor="ctr">
                    <a:solidFill>
                      <a:srgbClr val="20252B"/>
                    </a:solidFill>
                  </a:tcPr>
                </a:tc>
                <a:tc>
                  <a:txBody>
                    <a:bodyPr/>
                    <a:lstStyle/>
                    <a:p>
                      <a:r>
                        <a:rPr sz="1875" b="1">
                          <a:solidFill>
                            <a:srgbClr val="FFFFFF"/>
                          </a:solidFill>
                          <a:latin typeface="Arial"/>
                          <a:ea typeface="Arial"/>
                          <a:cs typeface="Arial"/>
                        </a:rPr>
                        <a:t>Pilot evidence</a:t>
                      </a:r>
                    </a:p>
                  </a:txBody>
                  <a:tcPr marL="152400" marR="152400" marT="123825" marB="123825" anchor="ctr">
                    <a:solidFill>
                      <a:srgbClr val="20252B"/>
                    </a:solidFill>
                  </a:tcPr>
                </a:tc>
              </a:tr>
              <a:tr h="857250">
                <a:tc>
                  <a:txBody>
                    <a:bodyPr/>
                    <a:lstStyle/>
                    <a:p>
                      <a:r>
                        <a:rPr sz="1875" b="0">
                          <a:solidFill>
                            <a:srgbClr val="20252B"/>
                          </a:solidFill>
                          <a:latin typeface="Arial"/>
                          <a:ea typeface="Arial"/>
                          <a:cs typeface="Arial"/>
                        </a:rPr>
                        <a:t>Less effort obtaining suitable cash</a:t>
                      </a:r>
                    </a:p>
                  </a:txBody>
                  <a:tcPr marL="152400" marR="152400" marT="123825" marB="123825" anchor="ctr">
                    <a:solidFill>
                      <a:srgbClr val="F4F5F6"/>
                    </a:solidFill>
                  </a:tcPr>
                </a:tc>
                <a:tc>
                  <a:txBody>
                    <a:bodyPr/>
                    <a:lstStyle/>
                    <a:p>
                      <a:r>
                        <a:rPr sz="1875" b="0">
                          <a:solidFill>
                            <a:srgbClr val="20252B"/>
                          </a:solidFill>
                          <a:latin typeface="Arial"/>
                          <a:ea typeface="Arial"/>
                          <a:cs typeface="Arial"/>
                        </a:rPr>
                        <a:t>User-reported time and cost versus prior alternatives</a:t>
                      </a:r>
                    </a:p>
                  </a:txBody>
                  <a:tcPr marL="152400" marR="152400" marT="123825" marB="123825" anchor="ctr">
                    <a:solidFill>
                      <a:srgbClr val="F4F5F6"/>
                    </a:solidFill>
                  </a:tcPr>
                </a:tc>
              </a:tr>
              <a:tr h="857250">
                <a:tc>
                  <a:txBody>
                    <a:bodyPr/>
                    <a:lstStyle/>
                    <a:p>
                      <a:r>
                        <a:rPr sz="1875" b="0">
                          <a:solidFill>
                            <a:srgbClr val="20252B"/>
                          </a:solidFill>
                          <a:latin typeface="Arial"/>
                          <a:ea typeface="Arial"/>
                          <a:cs typeface="Arial"/>
                        </a:rPr>
                        <a:t>Convenient cash and wallet access</a:t>
                      </a:r>
                    </a:p>
                  </a:txBody>
                  <a:tcPr marL="152400" marR="152400" marT="123825" marB="123825" anchor="ctr">
                    <a:solidFill>
                      <a:srgbClr val="FFFFFF"/>
                    </a:solidFill>
                  </a:tcPr>
                </a:tc>
                <a:tc>
                  <a:txBody>
                    <a:bodyPr/>
                    <a:lstStyle/>
                    <a:p>
                      <a:r>
                        <a:rPr sz="1875" b="0">
                          <a:solidFill>
                            <a:srgbClr val="20252B"/>
                          </a:solidFill>
                          <a:latin typeface="Arial"/>
                          <a:ea typeface="Arial"/>
                          <a:cs typeface="Arial"/>
                        </a:rPr>
                        <a:t>Completed transactions and repeat use with consent</a:t>
                      </a:r>
                    </a:p>
                  </a:txBody>
                  <a:tcPr marL="152400" marR="152400" marT="123825" marB="123825" anchor="ctr">
                    <a:solidFill>
                      <a:srgbClr val="FFFFFF"/>
                    </a:solidFill>
                  </a:tcPr>
                </a:tc>
              </a:tr>
              <a:tr h="857250">
                <a:tc>
                  <a:txBody>
                    <a:bodyPr/>
                    <a:lstStyle/>
                    <a:p>
                      <a:r>
                        <a:rPr sz="1875" b="0">
                          <a:solidFill>
                            <a:srgbClr val="20252B"/>
                          </a:solidFill>
                          <a:latin typeface="Arial"/>
                          <a:ea typeface="Arial"/>
                          <a:cs typeface="Arial"/>
                        </a:rPr>
                        <a:t>Clear outcomes when a service fails</a:t>
                      </a:r>
                    </a:p>
                  </a:txBody>
                  <a:tcPr marL="152400" marR="152400" marT="123825" marB="123825" anchor="ctr">
                    <a:solidFill>
                      <a:srgbClr val="F4F5F6"/>
                    </a:solidFill>
                  </a:tcPr>
                </a:tc>
                <a:tc>
                  <a:txBody>
                    <a:bodyPr/>
                    <a:lstStyle/>
                    <a:p>
                      <a:r>
                        <a:rPr sz="1875" b="0">
                          <a:solidFill>
                            <a:srgbClr val="20252B"/>
                          </a:solidFill>
                          <a:latin typeface="Arial"/>
                          <a:ea typeface="Arial"/>
                          <a:cs typeface="Arial"/>
                        </a:rPr>
                        <a:t>Support requests, unresolved claims, and resolution time</a:t>
                      </a:r>
                    </a:p>
                  </a:txBody>
                  <a:tcPr marL="152400" marR="152400" marT="123825" marB="123825" anchor="ctr">
                    <a:solidFill>
                      <a:srgbClr val="F4F5F6"/>
                    </a:solidFill>
                  </a:tcPr>
                </a:tc>
              </a:tr>
            </a:tbl>
          </a:graphicData>
        </a:graphic>
      </p:graphicFrame>
      <p:sp>
        <p:nvSpPr>
          <p:cNvPr id="4" name="Benefits are intended outcomes. Interviews and sup">
            <a:extLst xmlns:a="http://schemas.openxmlformats.org/drawingml/2006/main">
              <a:ext uri="{FF2B5EF4-FFF2-40B4-BE49-F238E27FC236}">
                <a16:creationId xmlns:a16="http://schemas.microsoft.com/office/drawing/2014/main" id="{F27A79BE-CAB4-4437-8FE0-6EFE67DB7749}"/>
              </a:ext>
            </a:extLst>
          </p:cNvPr>
          <p:cNvSpPr>
            <a:spLocks xmlns:a="http://schemas.openxmlformats.org/drawingml/2006/main" noGrp="1"/>
          </p:cNvSpPr>
          <p:nvPr/>
        </p:nvSpPr>
        <p:spPr>
          <a:xfrm xmlns:a="http://schemas.openxmlformats.org/drawingml/2006/main">
            <a:off x="609600" y="585787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2676D"/>
                </a:solidFill>
                <a:latin typeface="Arial"/>
                <a:ea typeface="Arial"/>
                <a:cs typeface="Arial"/>
              </a:defRPr>
            </a:pPr>
            <a:r>
              <a:rPr sz="1425" b="0">
                <a:solidFill>
                  <a:srgbClr val="62676D"/>
                </a:solidFill>
                <a:latin typeface="Arial"/>
                <a:ea typeface="Arial"/>
                <a:cs typeface="Arial"/>
              </a:rPr>
              <a:t>Benefits are intended outcomes. Interviews and supervised use must establish whether they occur.</a:t>
            </a:r>
          </a:p>
        </p:txBody>
      </p:sp>
    </p:spTree>
    <p:extLst>
      <p:ext uri="{BB962C8B-B14F-4D97-AF65-F5344CB8AC3E}">
        <p14:creationId xmlns:p14="http://schemas.microsoft.com/office/powerpoint/2010/main" val="3440278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evelopment milestones">
            <a:extLst xmlns:a="http://schemas.openxmlformats.org/drawingml/2006/main">
              <a:ext uri="{FF2B5EF4-FFF2-40B4-BE49-F238E27FC236}">
                <a16:creationId xmlns:a16="http://schemas.microsoft.com/office/drawing/2014/main" id="{0513BF8A-A2A5-4744-905E-983DFA7A9145}"/>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20252B"/>
                </a:solidFill>
                <a:latin typeface="Arial"/>
                <a:ea typeface="Arial"/>
                <a:cs typeface="Arial"/>
              </a:defRPr>
            </a:pPr>
            <a:r>
              <a:rPr sz="3300" b="1">
                <a:solidFill>
                  <a:srgbClr val="20252B"/>
                </a:solidFill>
                <a:latin typeface="Arial"/>
                <a:ea typeface="Arial"/>
                <a:cs typeface="Arial"/>
              </a:rPr>
              <a:t>Development milestones</a:t>
            </a:r>
          </a:p>
        </p:txBody>
      </p:sp>
      <p:sp>
        <p:nvSpPr>
          <p:cNvPr id="2" name="11">
            <a:extLst xmlns:a="http://schemas.openxmlformats.org/drawingml/2006/main">
              <a:ext uri="{FF2B5EF4-FFF2-40B4-BE49-F238E27FC236}">
                <a16:creationId xmlns:a16="http://schemas.microsoft.com/office/drawing/2014/main" id="{AE349923-4748-4286-911D-FA572FD65ABA}"/>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2676D"/>
                </a:solidFill>
                <a:latin typeface="Arial"/>
                <a:ea typeface="Arial"/>
                <a:cs typeface="Arial"/>
              </a:defRPr>
            </a:pPr>
            <a:r>
              <a:rPr sz="1200" b="0">
                <a:solidFill>
                  <a:srgbClr val="62676D"/>
                </a:solidFill>
                <a:latin typeface="Arial"/>
                <a:ea typeface="Arial"/>
                <a:cs typeface="Arial"/>
              </a:rPr>
              <a:t>11</a:t>
            </a:r>
          </a:p>
        </p:txBody>
      </p:sp>
      <p:graphicFrame>
        <p:nvGraphicFramePr>
          <p:cNvPr id="7" name=""/>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4524375"/>
                <a:gridCol w="6448425"/>
              </a:tblGrid>
              <a:tr h="742950">
                <a:tc>
                  <a:txBody>
                    <a:bodyPr/>
                    <a:lstStyle/>
                    <a:p>
                      <a:r>
                        <a:rPr sz="1800" b="1">
                          <a:solidFill>
                            <a:srgbClr val="FFFFFF"/>
                          </a:solidFill>
                          <a:latin typeface="Arial"/>
                          <a:ea typeface="Arial"/>
                          <a:cs typeface="Arial"/>
                        </a:rPr>
                        <a:t>Milestone</a:t>
                      </a:r>
                    </a:p>
                  </a:txBody>
                  <a:tcPr marL="152400" marR="152400" marT="123825" marB="123825" anchor="ctr">
                    <a:solidFill>
                      <a:srgbClr val="20252B"/>
                    </a:solidFill>
                  </a:tcPr>
                </a:tc>
                <a:tc>
                  <a:txBody>
                    <a:bodyPr/>
                    <a:lstStyle/>
                    <a:p>
                      <a:r>
                        <a:rPr sz="1800" b="1">
                          <a:solidFill>
                            <a:srgbClr val="FFFFFF"/>
                          </a:solidFill>
                          <a:latin typeface="Arial"/>
                          <a:ea typeface="Arial"/>
                          <a:cs typeface="Arial"/>
                        </a:rPr>
                        <a:t>Evidence for the next decision</a:t>
                      </a:r>
                    </a:p>
                  </a:txBody>
                  <a:tcPr marL="152400" marR="152400" marT="123825" marB="123825" anchor="ctr">
                    <a:solidFill>
                      <a:srgbClr val="20252B"/>
                    </a:solidFill>
                  </a:tcPr>
                </a:tc>
              </a:tr>
              <a:tr h="742950">
                <a:tc>
                  <a:txBody>
                    <a:bodyPr/>
                    <a:lstStyle/>
                    <a:p>
                      <a:r>
                        <a:rPr sz="1800" b="0">
                          <a:solidFill>
                            <a:srgbClr val="20252B"/>
                          </a:solidFill>
                          <a:latin typeface="Arial"/>
                          <a:ea typeface="Arial"/>
                          <a:cs typeface="Arial"/>
                        </a:rPr>
                        <a:t>User needs and service scope</a:t>
                      </a:r>
                    </a:p>
                  </a:txBody>
                  <a:tcPr marL="152400" marR="152400" marT="123825" marB="123825" anchor="ctr">
                    <a:solidFill>
                      <a:srgbClr val="F4F5F6"/>
                    </a:solidFill>
                  </a:tcPr>
                </a:tc>
                <a:tc>
                  <a:txBody>
                    <a:bodyPr/>
                    <a:lstStyle/>
                    <a:p>
                      <a:r>
                        <a:rPr sz="1800" b="0">
                          <a:solidFill>
                            <a:srgbClr val="20252B"/>
                          </a:solidFill>
                          <a:latin typeface="Arial"/>
                          <a:ea typeface="Arial"/>
                          <a:cs typeface="Arial"/>
                        </a:rPr>
                        <a:t>Interview findings and acceptable-fee hypotheses</a:t>
                      </a:r>
                    </a:p>
                  </a:txBody>
                  <a:tcPr marL="152400" marR="152400" marT="123825" marB="123825" anchor="ctr">
                    <a:solidFill>
                      <a:srgbClr val="F4F5F6"/>
                    </a:solidFill>
                  </a:tcPr>
                </a:tc>
              </a:tr>
              <a:tr h="742950">
                <a:tc>
                  <a:txBody>
                    <a:bodyPr/>
                    <a:lstStyle/>
                    <a:p>
                      <a:r>
                        <a:rPr sz="1800" b="0">
                          <a:solidFill>
                            <a:srgbClr val="20252B"/>
                          </a:solidFill>
                          <a:latin typeface="Arial"/>
                          <a:ea typeface="Arial"/>
                          <a:cs typeface="Arial"/>
                        </a:rPr>
                        <a:t>Integrated cash prototype</a:t>
                      </a:r>
                    </a:p>
                  </a:txBody>
                  <a:tcPr marL="152400" marR="152400" marT="123825" marB="123825" anchor="ctr">
                    <a:solidFill>
                      <a:srgbClr val="FFFFFF"/>
                    </a:solidFill>
                  </a:tcPr>
                </a:tc>
                <a:tc>
                  <a:txBody>
                    <a:bodyPr/>
                    <a:lstStyle/>
                    <a:p>
                      <a:r>
                        <a:rPr sz="1800" b="0">
                          <a:solidFill>
                            <a:srgbClr val="20252B"/>
                          </a:solidFill>
                          <a:latin typeface="Arial"/>
                          <a:ea typeface="Arial"/>
                          <a:cs typeface="Arial"/>
                        </a:rPr>
                        <a:t>Recorded intake, payout, inventory, and interruption tests</a:t>
                      </a:r>
                    </a:p>
                  </a:txBody>
                  <a:tcPr marL="152400" marR="152400" marT="123825" marB="123825" anchor="ctr">
                    <a:solidFill>
                      <a:srgbClr val="FFFFFF"/>
                    </a:solidFill>
                  </a:tcPr>
                </a:tc>
              </a:tr>
              <a:tr h="742950">
                <a:tc>
                  <a:txBody>
                    <a:bodyPr/>
                    <a:lstStyle/>
                    <a:p>
                      <a:r>
                        <a:rPr sz="1800" b="0">
                          <a:solidFill>
                            <a:srgbClr val="20252B"/>
                          </a:solidFill>
                          <a:latin typeface="Arial"/>
                          <a:ea typeface="Arial"/>
                          <a:cs typeface="Arial"/>
                        </a:rPr>
                        <a:t>Operating and pilot plan</a:t>
                      </a:r>
                    </a:p>
                  </a:txBody>
                  <a:tcPr marL="152400" marR="152400" marT="123825" marB="123825" anchor="ctr">
                    <a:solidFill>
                      <a:srgbClr val="F4F5F6"/>
                    </a:solidFill>
                  </a:tcPr>
                </a:tc>
                <a:tc>
                  <a:txBody>
                    <a:bodyPr/>
                    <a:lstStyle/>
                    <a:p>
                      <a:r>
                        <a:rPr sz="1800" b="0">
                          <a:solidFill>
                            <a:srgbClr val="20252B"/>
                          </a:solidFill>
                          <a:latin typeface="Arial"/>
                          <a:ea typeface="Arial"/>
                          <a:cs typeface="Arial"/>
                        </a:rPr>
                        <a:t>Measured costs, host permission, and support process</a:t>
                      </a:r>
                    </a:p>
                  </a:txBody>
                  <a:tcPr marL="152400" marR="152400" marT="123825" marB="123825" anchor="ctr">
                    <a:solidFill>
                      <a:srgbClr val="F4F5F6"/>
                    </a:solidFill>
                  </a:tcPr>
                </a:tc>
              </a:tr>
              <a:tr h="742950">
                <a:tc>
                  <a:txBody>
                    <a:bodyPr/>
                    <a:lstStyle/>
                    <a:p>
                      <a:r>
                        <a:rPr sz="1800" b="0">
                          <a:solidFill>
                            <a:srgbClr val="20252B"/>
                          </a:solidFill>
                          <a:latin typeface="Arial"/>
                          <a:ea typeface="Arial"/>
                          <a:cs typeface="Arial"/>
                        </a:rPr>
                        <a:t>Pilot review</a:t>
                      </a:r>
                    </a:p>
                  </a:txBody>
                  <a:tcPr marL="152400" marR="152400" marT="123825" marB="123825" anchor="ctr">
                    <a:solidFill>
                      <a:srgbClr val="FFFFFF"/>
                    </a:solidFill>
                  </a:tcPr>
                </a:tc>
                <a:tc>
                  <a:txBody>
                    <a:bodyPr/>
                    <a:lstStyle/>
                    <a:p>
                      <a:r>
                        <a:rPr sz="1800" b="0">
                          <a:solidFill>
                            <a:srgbClr val="20252B"/>
                          </a:solidFill>
                          <a:latin typeface="Arial"/>
                          <a:ea typeface="Arial"/>
                          <a:cs typeface="Arial"/>
                        </a:rPr>
                        <a:t>Observed results support refinement or continued testing</a:t>
                      </a:r>
                    </a:p>
                  </a:txBody>
                  <a:tcPr marL="152400" marR="152400" marT="123825" marB="123825" anchor="ctr">
                    <a:solidFill>
                      <a:srgbClr val="FFFFFF"/>
                    </a:solidFill>
                  </a:tcPr>
                </a:tc>
              </a:tr>
            </a:tbl>
          </a:graphicData>
        </a:graphic>
      </p:graphicFrame>
      <p:sp>
        <p:nvSpPr>
          <p:cNvPr id="4" name="Proposed sequence. Timing depends on testing, reso">
            <a:extLst xmlns:a="http://schemas.openxmlformats.org/drawingml/2006/main">
              <a:ext uri="{FF2B5EF4-FFF2-40B4-BE49-F238E27FC236}">
                <a16:creationId xmlns:a16="http://schemas.microsoft.com/office/drawing/2014/main" id="{4BD017F6-00C5-4168-93BB-40CBD4ECA266}"/>
              </a:ext>
            </a:extLst>
          </p:cNvPr>
          <p:cNvSpPr>
            <a:spLocks xmlns:a="http://schemas.openxmlformats.org/drawingml/2006/main" noGrp="1"/>
          </p:cNvSpPr>
          <p:nvPr/>
        </p:nvSpPr>
        <p:spPr>
          <a:xfrm xmlns:a="http://schemas.openxmlformats.org/drawingml/2006/main">
            <a:off x="609600" y="5857875"/>
            <a:ext cx="1014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2676D"/>
                </a:solidFill>
                <a:latin typeface="Arial"/>
                <a:ea typeface="Arial"/>
                <a:cs typeface="Arial"/>
              </a:defRPr>
            </a:pPr>
            <a:r>
              <a:rPr sz="1425" b="0">
                <a:solidFill>
                  <a:srgbClr val="62676D"/>
                </a:solidFill>
                <a:latin typeface="Arial"/>
                <a:ea typeface="Arial"/>
                <a:cs typeface="Arial"/>
              </a:rPr>
              <a:t>Proposed sequence. Timing depends on testing, resources, and approvals.</a:t>
            </a:r>
          </a:p>
        </p:txBody>
      </p:sp>
    </p:spTree>
    <p:extLst>
      <p:ext uri="{BB962C8B-B14F-4D97-AF65-F5344CB8AC3E}">
        <p14:creationId xmlns:p14="http://schemas.microsoft.com/office/powerpoint/2010/main" val="1246672520"/>
      </p:ext>
    </p:extLst>
  </p:cSld>
</p:sld>
</file>

<file path=ppt/slides/slide12.xml><?xml version="1.0" encoding="utf-8"?>
<p:sld xmlns:p="http://schemas.openxmlformats.org/presentationml/2006/main">
  <p:cSld>
    <p:bg>
      <p:bgPr>
        <a:solidFill xmlns:a="http://schemas.openxmlformats.org/drawingml/2006/main">
          <a:srgbClr val="20252B"/>
        </a:solidFill>
      </p:bgPr>
    </p:bg>
    <p:spTree>
      <p:nvGrpSpPr>
        <p:cNvPr id="1" name=""/>
        <p:cNvGrpSpPr/>
        <p:nvPr/>
      </p:nvGrpSpPr>
      <p:grpSpPr>
        <a:xfrm xmlns:a="http://schemas.openxmlformats.org/drawingml/2006/main"/>
      </p:grpSpPr>
      <p:sp>
        <p:nvSpPr>
          <p:cNvPr id="11" name="Team and incubation request">
            <a:extLst xmlns:a="http://schemas.openxmlformats.org/drawingml/2006/main">
              <a:ext uri="{FF2B5EF4-FFF2-40B4-BE49-F238E27FC236}">
                <a16:creationId xmlns:a16="http://schemas.microsoft.com/office/drawing/2014/main" id="{AC0F7B52-AB8F-499A-B521-2D527BEC35A1}"/>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Team and incubation request</a:t>
            </a:r>
          </a:p>
        </p:txBody>
      </p:sp>
      <p:sp>
        <p:nvSpPr>
          <p:cNvPr id="2" name="12">
            <a:extLst xmlns:a="http://schemas.openxmlformats.org/drawingml/2006/main">
              <a:ext uri="{FF2B5EF4-FFF2-40B4-BE49-F238E27FC236}">
                <a16:creationId xmlns:a16="http://schemas.microsoft.com/office/drawing/2014/main" id="{2D9AE4B2-A6B9-4177-B2D0-9AAD37D97242}"/>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B5BAC0"/>
                </a:solidFill>
                <a:latin typeface="Arial"/>
                <a:ea typeface="Arial"/>
                <a:cs typeface="Arial"/>
              </a:defRPr>
            </a:pPr>
            <a:r>
              <a:rPr sz="1200" b="0">
                <a:solidFill>
                  <a:srgbClr val="B5BAC0"/>
                </a:solidFill>
                <a:latin typeface="Arial"/>
                <a:ea typeface="Arial"/>
                <a:cs typeface="Arial"/>
              </a:rPr>
              <a:t>12</a:t>
            </a:r>
          </a:p>
        </p:txBody>
      </p:sp>
      <p:sp>
        <p:nvSpPr>
          <p:cNvPr id="3" name="Vince Ronald Maravillas">
            <a:extLst xmlns:a="http://schemas.openxmlformats.org/drawingml/2006/main">
              <a:ext uri="{FF2B5EF4-FFF2-40B4-BE49-F238E27FC236}">
                <a16:creationId xmlns:a16="http://schemas.microsoft.com/office/drawing/2014/main" id="{149042F9-6F57-44F5-A6D4-7FD99737FC57}"/>
              </a:ext>
            </a:extLst>
          </p:cNvPr>
          <p:cNvSpPr>
            <a:spLocks xmlns:a="http://schemas.openxmlformats.org/drawingml/2006/main" noGrp="1"/>
          </p:cNvSpPr>
          <p:nvPr/>
        </p:nvSpPr>
        <p:spPr>
          <a:xfrm xmlns:a="http://schemas.openxmlformats.org/drawingml/2006/main">
            <a:off x="609600" y="1809750"/>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Vince Ronald Maravillas</a:t>
            </a:r>
          </a:p>
        </p:txBody>
      </p:sp>
      <p:sp>
        <p:nvSpPr>
          <p:cNvPr id="4" name="Team leader">
            <a:extLst xmlns:a="http://schemas.openxmlformats.org/drawingml/2006/main">
              <a:ext uri="{FF2B5EF4-FFF2-40B4-BE49-F238E27FC236}">
                <a16:creationId xmlns:a16="http://schemas.microsoft.com/office/drawing/2014/main" id="{A2270826-D9B7-460B-900F-792881C1A4E9}"/>
              </a:ext>
            </a:extLst>
          </p:cNvPr>
          <p:cNvSpPr>
            <a:spLocks xmlns:a="http://schemas.openxmlformats.org/drawingml/2006/main" noGrp="1"/>
          </p:cNvSpPr>
          <p:nvPr/>
        </p:nvSpPr>
        <p:spPr>
          <a:xfrm xmlns:a="http://schemas.openxmlformats.org/drawingml/2006/main">
            <a:off x="609600" y="233362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97316"/>
                </a:solidFill>
                <a:latin typeface="Arial"/>
                <a:ea typeface="Arial"/>
                <a:cs typeface="Arial"/>
              </a:defRPr>
            </a:pPr>
            <a:r>
              <a:rPr sz="1800" b="0">
                <a:solidFill>
                  <a:srgbClr val="F97316"/>
                </a:solidFill>
                <a:latin typeface="Arial"/>
                <a:ea typeface="Arial"/>
                <a:cs typeface="Arial"/>
              </a:rPr>
              <a:t>Team leader</a:t>
            </a:r>
          </a:p>
        </p:txBody>
      </p:sp>
      <p:sp>
        <p:nvSpPr>
          <p:cNvPr id="5" name="Stunley Opeña&#10;Raziel Renz Salamat">
            <a:extLst xmlns:a="http://schemas.openxmlformats.org/drawingml/2006/main">
              <a:ext uri="{FF2B5EF4-FFF2-40B4-BE49-F238E27FC236}">
                <a16:creationId xmlns:a16="http://schemas.microsoft.com/office/drawing/2014/main" id="{540E72D0-297E-43A2-8A21-957001822286}"/>
              </a:ext>
            </a:extLst>
          </p:cNvPr>
          <p:cNvSpPr>
            <a:spLocks xmlns:a="http://schemas.openxmlformats.org/drawingml/2006/main" noGrp="1"/>
          </p:cNvSpPr>
          <p:nvPr/>
        </p:nvSpPr>
        <p:spPr>
          <a:xfrm xmlns:a="http://schemas.openxmlformats.org/drawingml/2006/main">
            <a:off x="609600" y="309562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Stunley Opeña</a:t>
            </a:r>
          </a:p>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Raziel Renz Salamat</a:t>
            </a:r>
          </a:p>
        </p:txBody>
      </p:sp>
      <p:sp>
        <p:nvSpPr>
          <p:cNvPr id="6" name="Members">
            <a:extLst xmlns:a="http://schemas.openxmlformats.org/drawingml/2006/main">
              <a:ext uri="{FF2B5EF4-FFF2-40B4-BE49-F238E27FC236}">
                <a16:creationId xmlns:a16="http://schemas.microsoft.com/office/drawing/2014/main" id="{11016728-3AFA-42D1-93CD-18D5FABEA410}"/>
              </a:ext>
            </a:extLst>
          </p:cNvPr>
          <p:cNvSpPr>
            <a:spLocks xmlns:a="http://schemas.openxmlformats.org/drawingml/2006/main" noGrp="1"/>
          </p:cNvSpPr>
          <p:nvPr/>
        </p:nvSpPr>
        <p:spPr>
          <a:xfrm xmlns:a="http://schemas.openxmlformats.org/drawingml/2006/main">
            <a:off x="609600" y="4191000"/>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97316"/>
                </a:solidFill>
                <a:latin typeface="Arial"/>
                <a:ea typeface="Arial"/>
                <a:cs typeface="Arial"/>
              </a:defRPr>
            </a:pPr>
            <a:r>
              <a:rPr sz="1800" b="0">
                <a:solidFill>
                  <a:srgbClr val="F97316"/>
                </a:solidFill>
                <a:latin typeface="Arial"/>
                <a:ea typeface="Arial"/>
                <a:cs typeface="Arial"/>
              </a:rPr>
              <a:t>Members</a:t>
            </a:r>
          </a:p>
        </p:txBody>
      </p:sp>
      <p:sp>
        <p:nvSpPr>
          <p:cNvPr id="7" name="BS in Computer Engineering&#10;Department of Engineeri">
            <a:extLst xmlns:a="http://schemas.openxmlformats.org/drawingml/2006/main">
              <a:ext uri="{FF2B5EF4-FFF2-40B4-BE49-F238E27FC236}">
                <a16:creationId xmlns:a16="http://schemas.microsoft.com/office/drawing/2014/main" id="{D34BCBEA-8708-4031-B744-AD5AC534C51E}"/>
              </a:ext>
            </a:extLst>
          </p:cNvPr>
          <p:cNvSpPr>
            <a:spLocks xmlns:a="http://schemas.openxmlformats.org/drawingml/2006/main" noGrp="1"/>
          </p:cNvSpPr>
          <p:nvPr/>
        </p:nvSpPr>
        <p:spPr>
          <a:xfrm xmlns:a="http://schemas.openxmlformats.org/drawingml/2006/main">
            <a:off x="609600" y="4857750"/>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BS in Computer Engineering</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Department of Engineering Education</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UM Tagum</a:t>
            </a:r>
          </a:p>
        </p:txBody>
      </p:sp>
      <p:sp>
        <p:nvSpPr>
          <p:cNvPr id="8" name="Support requested">
            <a:extLst xmlns:a="http://schemas.openxmlformats.org/drawingml/2006/main">
              <a:ext uri="{FF2B5EF4-FFF2-40B4-BE49-F238E27FC236}">
                <a16:creationId xmlns:a16="http://schemas.microsoft.com/office/drawing/2014/main" id="{CFF620B3-FCFE-44DB-9B68-87667A13189E}"/>
              </a:ext>
            </a:extLst>
          </p:cNvPr>
          <p:cNvSpPr>
            <a:spLocks xmlns:a="http://schemas.openxmlformats.org/drawingml/2006/main" noGrp="1"/>
          </p:cNvSpPr>
          <p:nvPr/>
        </p:nvSpPr>
        <p:spPr>
          <a:xfrm xmlns:a="http://schemas.openxmlformats.org/drawingml/2006/main">
            <a:off x="7429500" y="1809750"/>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F97316"/>
                </a:solidFill>
                <a:latin typeface="Arial"/>
                <a:ea typeface="Arial"/>
                <a:cs typeface="Arial"/>
              </a:defRPr>
            </a:pPr>
            <a:r>
              <a:rPr sz="2325" b="1">
                <a:solidFill>
                  <a:srgbClr val="F97316"/>
                </a:solidFill>
                <a:latin typeface="Arial"/>
                <a:ea typeface="Arial"/>
                <a:cs typeface="Arial"/>
              </a:rPr>
              <a:t>Support requested</a:t>
            </a:r>
          </a:p>
        </p:txBody>
      </p:sp>
      <p:sp>
        <p:nvSpPr>
          <p:cNvPr id="9" name="Customer and pricing validation&#10;&#10;Cash handling and">
            <a:extLst xmlns:a="http://schemas.openxmlformats.org/drawingml/2006/main">
              <a:ext uri="{FF2B5EF4-FFF2-40B4-BE49-F238E27FC236}">
                <a16:creationId xmlns:a16="http://schemas.microsoft.com/office/drawing/2014/main" id="{4178D430-5F37-436E-8D9B-62AC770E81D8}"/>
              </a:ext>
            </a:extLst>
          </p:cNvPr>
          <p:cNvSpPr>
            <a:spLocks xmlns:a="http://schemas.openxmlformats.org/drawingml/2006/main" noGrp="1"/>
          </p:cNvSpPr>
          <p:nvPr/>
        </p:nvSpPr>
        <p:spPr>
          <a:xfrm xmlns:a="http://schemas.openxmlformats.org/drawingml/2006/main">
            <a:off x="7429500" y="2524125"/>
            <a:ext cx="4000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Customer and pricing validation</a:t>
            </a:r>
          </a:p>
          <a:p xmlns:a="http://schemas.openxmlformats.org/drawingml/2006/main">
            <a:r>
              <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Cash handling and reliability feedback</a:t>
            </a:r>
          </a:p>
          <a:p xmlns:a="http://schemas.openxmlformats.org/drawingml/2006/main">
            <a:r>
              <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Pilot introductions and operating guidance</a:t>
            </a:r>
          </a:p>
        </p:txBody>
      </p:sp>
      <p:sp>
        <p:nvSpPr>
          <p:cNvPr id="10" name="v.maravillas.135438.tc@umindanao.edu.ph">
            <a:extLst xmlns:a="http://schemas.openxmlformats.org/drawingml/2006/main">
              <a:ext uri="{FF2B5EF4-FFF2-40B4-BE49-F238E27FC236}">
                <a16:creationId xmlns:a16="http://schemas.microsoft.com/office/drawing/2014/main" id="{3487A99C-66F3-4A5E-A475-5323580478C6}"/>
              </a:ext>
            </a:extLst>
          </p:cNvPr>
          <p:cNvSpPr>
            <a:spLocks xmlns:a="http://schemas.openxmlformats.org/drawingml/2006/main" noGrp="1"/>
          </p:cNvSpPr>
          <p:nvPr/>
        </p:nvSpPr>
        <p:spPr>
          <a:xfrm xmlns:a="http://schemas.openxmlformats.org/drawingml/2006/main">
            <a:off x="609600" y="6181725"/>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v.maravillas.135438.tc@umindanao.edu.ph</a:t>
            </a:r>
          </a:p>
        </p:txBody>
      </p:sp>
    </p:spTree>
    <p:extLst>
      <p:ext uri="{BB962C8B-B14F-4D97-AF65-F5344CB8AC3E}">
        <p14:creationId xmlns:p14="http://schemas.microsoft.com/office/powerpoint/2010/main" val="2653846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2026-09-14T07:03:55.8590000Z</dcterms:created>
  <dcterms:modified xsi:type="dcterms:W3CDTF">2026-09-14T07:03:55.8590000Z</dcterms:modified>
</coreProperties>
</file>